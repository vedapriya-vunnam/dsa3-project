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64" r:id="rId5"/>
    <p:sldId id="258" r:id="rId6"/>
    <p:sldId id="261" r:id="rId7"/>
    <p:sldId id="265" r:id="rId8"/>
    <p:sldId id="270" r:id="rId9"/>
    <p:sldId id="259" r:id="rId10"/>
    <p:sldId id="267" r:id="rId11"/>
    <p:sldId id="266" r:id="rId12"/>
    <p:sldId id="260" r:id="rId13"/>
    <p:sldId id="262" r:id="rId14"/>
    <p:sldId id="26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3" d="100"/>
          <a:sy n="83" d="100"/>
        </p:scale>
        <p:origin x="61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image" Target="../media/image1.png"/><Relationship Id="rId13" Type="http://schemas.openxmlformats.org/officeDocument/2006/relationships/image" Target="../media/image2.jpeg"/><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2">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61938" y="679160"/>
            <a:ext cx="9144000" cy="2316702"/>
          </a:xfrm>
        </p:spPr>
        <p:txBody>
          <a:bodyPr/>
          <a:lstStyle/>
          <a:p>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sz="4000" b="1" dirty="0">
                <a:solidFill>
                  <a:srgbClr val="C00000"/>
                </a:solidFill>
                <a:latin typeface="+mn-lt"/>
              </a:rPr>
            </a:br>
            <a:r>
              <a:rPr lang="en-US" sz="4000" b="1" dirty="0" smtClean="0">
                <a:solidFill>
                  <a:srgbClr val="C00000"/>
                </a:solidFill>
                <a:latin typeface="+mn-lt"/>
              </a:rPr>
              <a:t>Data Structures and Algorithms -3 (25CS2103E)</a:t>
            </a:r>
            <a:br>
              <a:rPr lang="en-US" sz="4000" b="1" dirty="0">
                <a:solidFill>
                  <a:srgbClr val="C00000"/>
                </a:solidFill>
                <a:latin typeface="+mn-lt"/>
              </a:rPr>
            </a:br>
            <a:br>
              <a:rPr lang="en-US" sz="4000" b="1" dirty="0">
                <a:solidFill>
                  <a:srgbClr val="C00000"/>
                </a:solidFill>
                <a:latin typeface="+mn-lt"/>
              </a:rPr>
            </a:br>
            <a:r>
              <a:rPr lang="en-US" altLang="en-US" sz="4000" b="1" dirty="0">
                <a:solidFill>
                  <a:srgbClr val="C00000"/>
                </a:solidFill>
                <a:latin typeface="+mn-lt"/>
              </a:rPr>
              <a:t>Text Search and Intelligent Query Engine</a:t>
            </a:r>
            <a:endParaRPr lang="en-US" altLang="en-US" sz="4000" b="1" dirty="0">
              <a:solidFill>
                <a:srgbClr val="C00000"/>
              </a:solidFill>
              <a:latin typeface="+mn-lt"/>
            </a:endParaRPr>
          </a:p>
        </p:txBody>
      </p:sp>
      <p:sp>
        <p:nvSpPr>
          <p:cNvPr id="3" name="Subtitle 2"/>
          <p:cNvSpPr>
            <a:spLocks noGrp="1"/>
          </p:cNvSpPr>
          <p:nvPr>
            <p:ph type="subTitle" idx="1"/>
          </p:nvPr>
        </p:nvSpPr>
        <p:spPr>
          <a:xfrm>
            <a:off x="4002190" y="3129984"/>
            <a:ext cx="4551284" cy="1396014"/>
          </a:xfrm>
        </p:spPr>
        <p:txBody>
          <a:bodyPr/>
          <a:lstStyle/>
          <a:p>
            <a:pPr algn="ctr"/>
            <a:r>
              <a:rPr lang="en-US" dirty="0">
                <a:solidFill>
                  <a:srgbClr val="0070C0"/>
                </a:solidFill>
              </a:rPr>
              <a:t>Team Members </a:t>
            </a:r>
            <a:endParaRPr lang="en-US" dirty="0">
              <a:solidFill>
                <a:srgbClr val="0070C0"/>
              </a:solidFill>
            </a:endParaRPr>
          </a:p>
          <a:p>
            <a:pPr algn="ctr"/>
            <a:r>
              <a:rPr lang="en-US" sz="2000" dirty="0">
                <a:solidFill>
                  <a:srgbClr val="0070C0"/>
                </a:solidFill>
              </a:rPr>
              <a:t>       V.VedaPriya   2520030376 </a:t>
            </a:r>
            <a:endParaRPr lang="en-US" sz="2000" dirty="0">
              <a:solidFill>
                <a:srgbClr val="0070C0"/>
              </a:solidFill>
            </a:endParaRPr>
          </a:p>
          <a:p>
            <a:pPr algn="ctr"/>
            <a:r>
              <a:rPr lang="en-US" sz="2000" dirty="0">
                <a:solidFill>
                  <a:srgbClr val="0070C0"/>
                </a:solidFill>
                <a:sym typeface="+mn-ea"/>
              </a:rPr>
              <a:t>        M.Thanishka 2520030583</a:t>
            </a:r>
            <a:endParaRPr lang="en-US" sz="2000" dirty="0">
              <a:solidFill>
                <a:srgbClr val="0070C0"/>
              </a:solidFill>
            </a:endParaRPr>
          </a:p>
          <a:p>
            <a:pPr marL="171450" algn="ctr">
              <a:lnSpc>
                <a:spcPct val="107000"/>
              </a:lnSpc>
              <a:spcAft>
                <a:spcPts val="800"/>
              </a:spcAft>
            </a:pPr>
            <a:r>
              <a:rPr lang="en-US" sz="2000" dirty="0">
                <a:solidFill>
                  <a:srgbClr val="0070C0"/>
                </a:solidFill>
              </a:rPr>
              <a:t>     P.Hamsika     2520030586</a:t>
            </a:r>
            <a:endParaRPr lang="en-US" sz="2000" dirty="0">
              <a:solidFill>
                <a:srgbClr val="0070C0"/>
              </a:solidFill>
            </a:endParaRPr>
          </a:p>
          <a:p>
            <a:pPr marL="171450" algn="ctr">
              <a:lnSpc>
                <a:spcPct val="107000"/>
              </a:lnSpc>
              <a:spcAft>
                <a:spcPts val="800"/>
              </a:spcAft>
            </a:pPr>
            <a:r>
              <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Under the Esteemed Guidance of</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r>
              <a:rPr lang="en-US" dirty="0">
                <a:solidFill>
                  <a:schemeClr val="tx1"/>
                </a:solidFill>
              </a:rPr>
              <a:t>Dr.Yamini Devi</a:t>
            </a:r>
            <a:endParaRPr lang="en-US" dirty="0">
              <a:solidFill>
                <a:schemeClr val="tx1"/>
              </a:solidFill>
            </a:endParaRPr>
          </a:p>
          <a:p>
            <a:r>
              <a:rPr lang="en-US" b="1"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sym typeface="+mn-ea"/>
              </a:rPr>
              <a:t> department  of CSE</a:t>
            </a:r>
            <a:endParaRPr lang="en-US" b="1"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3736109" y="806448"/>
            <a:ext cx="6936386" cy="5835572"/>
          </a:xfrm>
          <a:prstGeom prst="rect">
            <a:avLst/>
          </a:prstGeom>
          <a:noFill/>
        </p:spPr>
        <p:txBody>
          <a:bodyPr wrap="square" rtlCol="0" lIns="73152" rIns="73152" tIns="73152" bIns="73152">
            <a:normAutofit/>
          </a:bodyPr>
          <a:lstStyle/>
          <a:p>
            <a:pPr marL="457200" indent="-457200" algn="l" rtl="0" eaLnBrk="1" fontAlgn="t" latinLnBrk="0" hangingPunct="1">
              <a:lnSpc>
                <a:spcPct val="150000"/>
              </a:lnSpc>
              <a:spcBef>
                <a:spcPts val="0"/>
              </a:spcBef>
              <a:spcAft>
                <a:spcPts val="1000"/>
              </a:spcAft>
              <a:buFont typeface="Arial" panose="020B0604020202020204" pitchFamily="34" charset="0"/>
              <a:buChar char="•"/>
              <a:defRPr sz="2200" b="0">
                <a:solidFill>
                  <a:srgbClr val="28303A"/>
                </a:solidFill>
                <a:latin typeface="Arial"/>
              </a:defRPr>
            </a:pPr>
            <a:r>
              <a:t>Abstract</a:t>
            </a:r>
            <a:endParaRPr lang="en-US" sz="3200" b="0" i="0" u="none" strike="noStrike" kern="1200" dirty="0">
              <a:solidFill>
                <a:srgbClr val="000000"/>
              </a:solidFill>
              <a:effectLst/>
              <a:latin typeface="Calibri" panose="020F0502020204030204" pitchFamily="34" charset="0"/>
            </a:endParaRPr>
          </a:p>
          <a:p>
            <a:pPr algn="l">
              <a:spcAft>
                <a:spcPts val="1000"/>
              </a:spcAft>
              <a:defRPr sz="2200" b="0">
                <a:solidFill>
                  <a:srgbClr val="28303A"/>
                </a:solidFill>
                <a:latin typeface="Arial"/>
              </a:defRPr>
            </a:pPr>
            <a:r>
              <a:t>Introduction</a:t>
            </a:r>
          </a:p>
          <a:p>
            <a:pPr algn="l">
              <a:spcAft>
                <a:spcPts val="1000"/>
              </a:spcAft>
              <a:defRPr sz="2200" b="0">
                <a:solidFill>
                  <a:srgbClr val="28303A"/>
                </a:solidFill>
                <a:latin typeface="Arial"/>
              </a:defRPr>
            </a:pPr>
            <a:r>
              <a:t>Literature Survey</a:t>
            </a:r>
          </a:p>
          <a:p>
            <a:pPr algn="l">
              <a:spcAft>
                <a:spcPts val="1000"/>
              </a:spcAft>
              <a:defRPr sz="2200" b="0">
                <a:solidFill>
                  <a:srgbClr val="28303A"/>
                </a:solidFill>
                <a:latin typeface="Arial"/>
              </a:defRPr>
            </a:pPr>
            <a:r>
              <a:t>Problem Statement and Objectives</a:t>
            </a:r>
          </a:p>
          <a:p>
            <a:pPr algn="l">
              <a:spcAft>
                <a:spcPts val="1000"/>
              </a:spcAft>
              <a:defRPr sz="2200" b="0">
                <a:solidFill>
                  <a:srgbClr val="28303A"/>
                </a:solidFill>
                <a:latin typeface="Arial"/>
              </a:defRPr>
            </a:pPr>
            <a:r>
              <a:t>System Flow Chart</a:t>
            </a:r>
          </a:p>
          <a:p>
            <a:pPr algn="l">
              <a:spcAft>
                <a:spcPts val="1000"/>
              </a:spcAft>
              <a:defRPr sz="2200" b="0">
                <a:solidFill>
                  <a:srgbClr val="28303A"/>
                </a:solidFill>
                <a:latin typeface="Arial"/>
              </a:defRPr>
            </a:pPr>
            <a:r>
              <a:t>Hardware and Software Requirements</a:t>
            </a:r>
          </a:p>
          <a:p>
            <a:pPr algn="l">
              <a:spcAft>
                <a:spcPts val="1000"/>
              </a:spcAft>
              <a:defRPr sz="2200" b="0">
                <a:solidFill>
                  <a:srgbClr val="28303A"/>
                </a:solidFill>
                <a:latin typeface="Arial"/>
              </a:defRPr>
            </a:pPr>
            <a:r>
              <a:t>Implementation Overview</a:t>
            </a:r>
          </a:p>
          <a:p>
            <a:pPr algn="l">
              <a:spcAft>
                <a:spcPts val="1000"/>
              </a:spcAft>
              <a:defRPr sz="2200" b="0">
                <a:solidFill>
                  <a:srgbClr val="28303A"/>
                </a:solidFill>
                <a:latin typeface="Arial"/>
              </a:defRPr>
            </a:pPr>
            <a:r>
              <a:t>Results and Discussion</a:t>
            </a:r>
          </a:p>
          <a:p>
            <a:pPr algn="l">
              <a:spcAft>
                <a:spcPts val="1000"/>
              </a:spcAft>
              <a:defRPr sz="2200" b="0">
                <a:solidFill>
                  <a:srgbClr val="28303A"/>
                </a:solidFill>
                <a:latin typeface="Arial"/>
              </a:defRPr>
            </a:pPr>
            <a:r>
              <a:t>Conclusion</a:t>
            </a:r>
          </a:p>
          <a:p>
            <a:pPr algn="l">
              <a:spcAft>
                <a:spcPts val="1000"/>
              </a:spcAft>
              <a:defRPr sz="2200" b="0">
                <a:solidFill>
                  <a:srgbClr val="28303A"/>
                </a:solidFill>
                <a:latin typeface="Arial"/>
              </a:defRPr>
            </a:pPr>
            <a:r>
              <a:t>Future Scope</a:t>
            </a:r>
          </a:p>
        </p:txBody>
      </p:sp>
      <p:sp>
        <p:nvSpPr>
          <p:cNvPr id="8" name="Rectangle: Rounded Corners 7"/>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endParaRPr lang="en-US" sz="3200" b="1" dirty="0">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5474" y="739198"/>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Box 4"/>
          <p:cNvSpPr txBox="1"/>
          <p:nvPr/>
        </p:nvSpPr>
        <p:spPr>
          <a:xfrm>
            <a:off x="1417320" y="1600200"/>
            <a:ext cx="9372600" cy="4526280"/>
          </a:xfrm>
          <a:prstGeom prst="rect">
            <a:avLst/>
          </a:prstGeom>
        </p:spPr>
        <p:txBody>
          <a:bodyPr wrap="square" lIns="73152" rIns="73152" tIns="73152" bIns="73152">
            <a:normAutofit/>
          </a:bodyPr>
          <a:p>
            <a:pPr lvl="1" algn="l">
              <a:spcAft>
                <a:spcPts val="1000"/>
              </a:spcAft>
              <a:defRPr sz="1900" b="0">
                <a:solidFill>
                  <a:srgbClr val="28303A"/>
                </a:solidFill>
                <a:latin typeface="Arial"/>
              </a:defRPr>
            </a:pPr>
            <a:r>
              <a:t>The Text Search and Intelligent Query Engine is a Java-based console application for searching and analyzing text files. It supports a predefined dataset and a user-provided .txt file. The implemented algorithms are Knuth-Morris-Pratt (KMP) for single-pattern searching, Edit Distance for closest-word matching, Aho-Corasick for multiple-keyword searching, Suffix Array for suffix indexing, and LCP Array for common-prefix analysis. The selected text is shared across operations. KMP, Edit Distance, and Aho-Corasick process the complete text, while Suffix Array and LCP Array analyze up to the first 6,000 characters. The current version does not implement Rabin-Karp, the Z Algorithm, execution-time benchmarking, or a web interface.</a:t>
            </a:r>
            <a:endParaRPr sz="3200"/>
          </a:p>
        </p:txBody>
      </p:sp>
      <p:sp>
        <p:nvSpPr>
          <p:cNvPr id="2" name="TextBox 1"/>
          <p:cNvSpPr txBox="1"/>
          <p:nvPr/>
        </p:nvSpPr>
        <p:spPr>
          <a:xfrm>
            <a:off x="2660072" y="739198"/>
            <a:ext cx="6871855" cy="584775"/>
          </a:xfrm>
          <a:prstGeom prst="rect">
            <a:avLst/>
          </a:prstGeom>
          <a:noFill/>
        </p:spPr>
        <p:txBody>
          <a:bodyPr wrap="square" rtlCol="0">
            <a:spAutoFit/>
          </a:bodyPr>
          <a:lstStyle/>
          <a:p>
            <a:pPr algn="ctr"/>
            <a:r>
              <a:rPr lang="en-US" sz="3200" b="1" dirty="0">
                <a:solidFill>
                  <a:schemeClr val="bg1"/>
                </a:solidFill>
              </a:rPr>
              <a:t>Abstract</a:t>
            </a:r>
            <a:endParaRPr lang="en-US" sz="3200" b="1" dirty="0">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59378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76582" y="594015"/>
            <a:ext cx="6871855" cy="584775"/>
          </a:xfrm>
          <a:prstGeom prst="rect">
            <a:avLst/>
          </a:prstGeom>
          <a:noFill/>
        </p:spPr>
        <p:txBody>
          <a:bodyPr wrap="square" rtlCol="0">
            <a:spAutoFit/>
          </a:bodyPr>
          <a:lstStyle/>
          <a:p>
            <a:pPr algn="ctr"/>
            <a:r>
              <a:rPr lang="en-US" sz="3200" b="1" dirty="0">
                <a:solidFill>
                  <a:schemeClr val="bg1"/>
                </a:solidFill>
              </a:rPr>
              <a:t>Introduction</a:t>
            </a:r>
            <a:endParaRPr lang="en-US" sz="3200" b="1" dirty="0">
              <a:solidFill>
                <a:schemeClr val="bg1"/>
              </a:solidFill>
            </a:endParaRPr>
          </a:p>
        </p:txBody>
      </p:sp>
      <p:sp>
        <p:nvSpPr>
          <p:cNvPr id="4" name="Text Box 3"/>
          <p:cNvSpPr txBox="1"/>
          <p:nvPr/>
        </p:nvSpPr>
        <p:spPr>
          <a:xfrm>
            <a:off x="1417320" y="1508760"/>
            <a:ext cx="9372600" cy="4800600"/>
          </a:xfrm>
          <a:prstGeom prst="rect">
            <a:avLst/>
          </a:prstGeom>
        </p:spPr>
        <p:txBody>
          <a:bodyPr wrap="square" lIns="73152" rIns="73152" tIns="73152" bIns="73152">
            <a:normAutofit/>
          </a:bodyPr>
          <a:p>
            <a:pPr algn="l">
              <a:spcAft>
                <a:spcPts val="1000"/>
              </a:spcAft>
              <a:defRPr sz="2100" b="0">
                <a:solidFill>
                  <a:srgbClr val="28303A"/>
                </a:solidFill>
                <a:latin typeface="Arial"/>
              </a:defRPr>
            </a:pPr>
            <a:r>
              <a:t>Text searching is used in document processing, search tools, and information retrieval. As text collections grow, efficient algorithms help locate patterns and analyze content. Our project brings five string-processing techniques into one Java console application. The user selects a dataset, chooses an operation from the menu, and views the result. The Main class controls the program flow, DataSet reads and stores the text, and each algorithm class performs its specific task. The application can read the included dataset or a custom plain-text file from the local computer.</a:t>
            </a:r>
            <a:endParaRPr sz="32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5474" y="739198"/>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672120"/>
            <a:ext cx="6871855" cy="584775"/>
          </a:xfrm>
          <a:prstGeom prst="rect">
            <a:avLst/>
          </a:prstGeom>
          <a:noFill/>
        </p:spPr>
        <p:txBody>
          <a:bodyPr wrap="square" rtlCol="0">
            <a:spAutoFit/>
          </a:bodyPr>
          <a:lstStyle/>
          <a:p>
            <a:pPr algn="ctr"/>
            <a:r>
              <a:rPr lang="en-US" sz="3200" b="1" dirty="0">
                <a:solidFill>
                  <a:schemeClr val="bg1"/>
                </a:solidFill>
              </a:rPr>
              <a:t>Literature Survey</a:t>
            </a:r>
            <a:endParaRPr lang="en-US" sz="3200" b="1" dirty="0">
              <a:solidFill>
                <a:schemeClr val="bg1"/>
              </a:solidFill>
            </a:endParaRPr>
          </a:p>
        </p:txBody>
      </p:sp>
      <p:sp>
        <p:nvSpPr>
          <p:cNvPr id="4" name="Text Box 3"/>
          <p:cNvSpPr txBox="1"/>
          <p:nvPr/>
        </p:nvSpPr>
        <p:spPr>
          <a:xfrm>
            <a:off x="1417320" y="1600200"/>
            <a:ext cx="9372600" cy="4709160"/>
          </a:xfrm>
          <a:prstGeom prst="rect">
            <a:avLst/>
          </a:prstGeom>
        </p:spPr>
        <p:txBody>
          <a:bodyPr wrap="square" lIns="73152" rIns="73152" tIns="73152" bIns="73152">
            <a:normAutofit/>
          </a:bodyPr>
          <a:p>
            <a:pPr algn="l">
              <a:spcAft>
                <a:spcPts val="1000"/>
              </a:spcAft>
              <a:defRPr sz="2000" b="0">
                <a:solidFill>
                  <a:srgbClr val="28303A"/>
                </a:solidFill>
                <a:latin typeface="Arial"/>
              </a:defRPr>
            </a:pPr>
            <a:r>
              <a:t>String-processing systems use different algorithms depending on the search task. Knuth-Morris-Pratt (KMP) uses an LPS array to avoid repeating comparisons during single-pattern searching. Edit Distance uses dynamic programming to measure the minimum insertions, deletions, and substitutions between words. Aho-Corasick combines multiple patterns in a trie and uses failure links to search for them in one text traversal. Suffix Arrays organize suffixes in sorted order, while LCP Arrays store common-prefix lengths between adjacent suffixes. These five techniques are implemented in this project.</a:t>
            </a:r>
            <a:endParaRPr sz="32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808662" y="640138"/>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640039"/>
            <a:ext cx="6871855" cy="583565"/>
          </a:xfrm>
          <a:prstGeom prst="rect">
            <a:avLst/>
          </a:prstGeom>
          <a:noFill/>
        </p:spPr>
        <p:txBody>
          <a:bodyPr wrap="square" rtlCol="0">
            <a:spAutoFit/>
          </a:bodyPr>
          <a:lstStyle/>
          <a:p>
            <a:pPr algn="ctr"/>
            <a:r>
              <a:rPr lang="en-US" sz="3200" b="1" dirty="0">
                <a:solidFill>
                  <a:schemeClr val="bg1"/>
                </a:solidFill>
              </a:rPr>
              <a:t>Problem Statement </a:t>
            </a:r>
            <a:endParaRPr lang="en-US" sz="3200" b="1" dirty="0">
              <a:solidFill>
                <a:schemeClr val="bg1"/>
              </a:solidFill>
            </a:endParaRPr>
          </a:p>
        </p:txBody>
      </p:sp>
      <p:sp>
        <p:nvSpPr>
          <p:cNvPr id="4" name="Text Box 3"/>
          <p:cNvSpPr txBox="1"/>
          <p:nvPr/>
        </p:nvSpPr>
        <p:spPr>
          <a:xfrm>
            <a:off x="1417320" y="1508760"/>
            <a:ext cx="9372600" cy="4800600"/>
          </a:xfrm>
          <a:prstGeom prst="rect">
            <a:avLst/>
          </a:prstGeom>
        </p:spPr>
        <p:txBody>
          <a:bodyPr wrap="square" lIns="73152" rIns="73152" tIns="73152" bIns="73152">
            <a:normAutofit/>
          </a:bodyPr>
          <a:p>
            <a:pPr algn="l">
              <a:spcAft>
                <a:spcPts val="1000"/>
              </a:spcAft>
              <a:defRPr sz="2100" b="0">
                <a:solidFill>
                  <a:srgbClr val="28303A"/>
                </a:solidFill>
                <a:latin typeface="Arial"/>
              </a:defRPr>
            </a:pPr>
            <a:r>
              <a:t>Searching and analyzing text involves several different tasks: finding one pattern, identifying a likely spelling match, searching multiple keywords, and examining repeated prefixes. Using a separate basic approach for each task can be inefficient. The project addresses this by providing a menu-driven Java application that loads a text dataset once and applies an appropriate algorithm according to the user's choice.</a:t>
            </a:r>
            <a:endParaRPr sz="32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3565"/>
          </a:xfrm>
          <a:prstGeom prst="rect">
            <a:avLst/>
          </a:prstGeom>
          <a:noFill/>
        </p:spPr>
        <p:txBody>
          <a:bodyPr wrap="square" rtlCol="0">
            <a:spAutoFit/>
          </a:bodyPr>
          <a:lstStyle/>
          <a:p>
            <a:pPr algn="ctr"/>
            <a:r>
              <a:rPr lang="en-US" sz="3200" b="1" dirty="0">
                <a:solidFill>
                  <a:schemeClr val="bg1"/>
                </a:solidFill>
              </a:rPr>
              <a:t> Objectives</a:t>
            </a:r>
            <a:endParaRPr lang="en-US" sz="3200" b="1" dirty="0">
              <a:solidFill>
                <a:schemeClr val="bg1"/>
              </a:solidFill>
            </a:endParaRPr>
          </a:p>
        </p:txBody>
      </p:sp>
      <p:sp>
        <p:nvSpPr>
          <p:cNvPr id="4" name="Text Box 3"/>
          <p:cNvSpPr txBox="1"/>
          <p:nvPr/>
        </p:nvSpPr>
        <p:spPr>
          <a:xfrm>
            <a:off x="1508760" y="1234440"/>
            <a:ext cx="9144000" cy="5120640"/>
          </a:xfrm>
          <a:prstGeom prst="rect">
            <a:avLst/>
          </a:prstGeom>
        </p:spPr>
        <p:txBody>
          <a:bodyPr wrap="square" lIns="73152" rIns="73152" tIns="73152" bIns="73152">
            <a:normAutofit/>
          </a:bodyPr>
          <a:p>
            <a:pPr marL="457200" indent="-457200" algn="l">
              <a:spcAft>
                <a:spcPts val="1000"/>
              </a:spcAft>
              <a:buFont typeface="Arial" panose="020B0604020202020204" pitchFamily="34" charset="0"/>
              <a:buChar char="•"/>
              <a:defRPr sz="2100" b="0">
                <a:solidFill>
                  <a:srgbClr val="28303A"/>
                </a:solidFill>
                <a:latin typeface="Arial"/>
              </a:defRPr>
            </a:pPr>
            <a:r>
              <a:t>• Load the predefined dataset or a user-selected .txt file.</a:t>
            </a:r>
            <a:endParaRPr lang="en-US" altLang="en-US" sz="3200"/>
          </a:p>
          <a:p>
            <a:pPr algn="l">
              <a:spcAft>
                <a:spcPts val="1000"/>
              </a:spcAft>
              <a:defRPr sz="2100" b="0">
                <a:solidFill>
                  <a:srgbClr val="28303A"/>
                </a:solidFill>
                <a:latin typeface="Arial"/>
              </a:defRPr>
            </a:pPr>
            <a:r>
              <a:t>• Search for a single pattern using KMP.</a:t>
            </a:r>
          </a:p>
          <a:p>
            <a:pPr algn="l">
              <a:spcAft>
                <a:spcPts val="1000"/>
              </a:spcAft>
              <a:defRPr sz="2100" b="0">
                <a:solidFill>
                  <a:srgbClr val="28303A"/>
                </a:solidFill>
                <a:latin typeface="Arial"/>
              </a:defRPr>
            </a:pPr>
            <a:r>
              <a:t>• Find a closest word match using Edit Distance.</a:t>
            </a:r>
          </a:p>
          <a:p>
            <a:pPr algn="l">
              <a:spcAft>
                <a:spcPts val="1000"/>
              </a:spcAft>
              <a:defRPr sz="2100" b="0">
                <a:solidFill>
                  <a:srgbClr val="28303A"/>
                </a:solidFill>
                <a:latin typeface="Arial"/>
              </a:defRPr>
            </a:pPr>
            <a:r>
              <a:t>• Search multiple keywords using Aho-Corasick.</a:t>
            </a:r>
          </a:p>
          <a:p>
            <a:pPr algn="l">
              <a:spcAft>
                <a:spcPts val="1000"/>
              </a:spcAft>
              <a:defRPr sz="2100" b="0">
                <a:solidFill>
                  <a:srgbClr val="28303A"/>
                </a:solidFill>
                <a:latin typeface="Arial"/>
              </a:defRPr>
            </a:pPr>
            <a:r>
              <a:t>• Build a Suffix Array for text indexing.</a:t>
            </a:r>
          </a:p>
          <a:p>
            <a:pPr algn="l">
              <a:spcAft>
                <a:spcPts val="1000"/>
              </a:spcAft>
              <a:defRPr sz="2100" b="0">
                <a:solidFill>
                  <a:srgbClr val="28303A"/>
                </a:solidFill>
                <a:latin typeface="Arial"/>
              </a:defRPr>
            </a:pPr>
            <a:r>
              <a:t>• Calculate an LCP Array for adjacent sorted suffixes.</a:t>
            </a:r>
          </a:p>
          <a:p>
            <a:pPr algn="l">
              <a:spcAft>
                <a:spcPts val="1000"/>
              </a:spcAft>
              <a:defRPr sz="2100" b="0">
                <a:solidFill>
                  <a:srgbClr val="28303A"/>
                </a:solidFill>
                <a:latin typeface="Arial"/>
              </a:defRPr>
            </a:pPr>
            <a:r>
              <a:t>• Demonstrate the use of Java file handling, arrays, collections, queues, and strings.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Flow Chart</a:t>
            </a:r>
            <a:endParaRPr lang="en-US" sz="3200" b="1" dirty="0">
              <a:solidFill>
                <a:schemeClr val="bg1"/>
              </a:solidFill>
            </a:endParaRPr>
          </a:p>
        </p:txBody>
      </p:sp>
      <p:sp>
        <p:nvSpPr>
          <p:cNvPr id="4" name="Rounded Rectangle 3"/>
          <p:cNvSpPr/>
          <p:nvPr/>
        </p:nvSpPr>
        <p:spPr>
          <a:xfrm>
            <a:off x="822960" y="1097280"/>
            <a:ext cx="2926080" cy="594360"/>
          </a:xfrm>
          <a:prstGeom prst="roundRect">
            <a:avLst/>
          </a:prstGeom>
          <a:solidFill>
            <a:srgbClr val="DEEBF9"/>
          </a:solidFill>
          <a:ln>
            <a:solidFill>
              <a:srgbClr val="4A66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22D3C"/>
                </a:solidFill>
                <a:latin typeface="Arial"/>
              </a:defRPr>
            </a:pPr>
            <a:r>
              <a:t>Start / Run Main.java</a:t>
            </a:r>
          </a:p>
        </p:txBody>
      </p:sp>
      <p:sp>
        <p:nvSpPr>
          <p:cNvPr id="5" name="Rounded Rectangle 4"/>
          <p:cNvSpPr/>
          <p:nvPr/>
        </p:nvSpPr>
        <p:spPr>
          <a:xfrm>
            <a:off x="4572000" y="1097280"/>
            <a:ext cx="2926080" cy="594360"/>
          </a:xfrm>
          <a:prstGeom prst="roundRect">
            <a:avLst/>
          </a:prstGeom>
          <a:solidFill>
            <a:srgbClr val="DEEBF9"/>
          </a:solidFill>
          <a:ln>
            <a:solidFill>
              <a:srgbClr val="4A66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22D3C"/>
                </a:solidFill>
                <a:latin typeface="Arial"/>
              </a:defRPr>
            </a:pPr>
            <a:r>
              <a:t>Select dataset source</a:t>
            </a:r>
          </a:p>
        </p:txBody>
      </p:sp>
      <p:cxnSp>
        <p:nvCxnSpPr>
          <p:cNvPr id="6" name="Connector 5"/>
          <p:cNvCxnSpPr/>
          <p:nvPr/>
        </p:nvCxnSpPr>
        <p:spPr>
          <a:xfrm>
            <a:off x="3749039" y="1389888"/>
            <a:ext cx="822961" cy="0"/>
          </a:xfrm>
          <a:prstGeom prst="line">
            <a:avLst/>
          </a:prstGeom>
          <a:ln w="25400">
            <a:solidFill>
              <a:srgbClr val="5A6E87"/>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4572000" y="2057400"/>
            <a:ext cx="2926080" cy="685800"/>
          </a:xfrm>
          <a:prstGeom prst="roundRect">
            <a:avLst/>
          </a:prstGeom>
          <a:solidFill>
            <a:srgbClr val="E8F3EB"/>
          </a:solidFill>
          <a:ln>
            <a:solidFill>
              <a:srgbClr val="4A66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22D3C"/>
                </a:solidFill>
                <a:latin typeface="Arial"/>
              </a:defRPr>
            </a:pPr>
            <a:r>
              <a:t>Load .txt using DataSet.java</a:t>
            </a:r>
          </a:p>
        </p:txBody>
      </p:sp>
      <p:cxnSp>
        <p:nvCxnSpPr>
          <p:cNvPr id="8" name="Connector 7"/>
          <p:cNvCxnSpPr/>
          <p:nvPr/>
        </p:nvCxnSpPr>
        <p:spPr>
          <a:xfrm>
            <a:off x="6035040" y="1691640"/>
            <a:ext cx="0" cy="365760"/>
          </a:xfrm>
          <a:prstGeom prst="line">
            <a:avLst/>
          </a:prstGeom>
          <a:ln w="25400">
            <a:solidFill>
              <a:srgbClr val="5A6E87"/>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572000" y="2971800"/>
            <a:ext cx="2926080" cy="685800"/>
          </a:xfrm>
          <a:prstGeom prst="roundRect">
            <a:avLst/>
          </a:prstGeom>
          <a:solidFill>
            <a:srgbClr val="E8F3EB"/>
          </a:solidFill>
          <a:ln>
            <a:solidFill>
              <a:srgbClr val="4A66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22D3C"/>
                </a:solidFill>
                <a:latin typeface="Arial"/>
              </a:defRPr>
            </a:pPr>
            <a:r>
              <a:t>Display operation menu</a:t>
            </a:r>
          </a:p>
        </p:txBody>
      </p:sp>
      <p:cxnSp>
        <p:nvCxnSpPr>
          <p:cNvPr id="10" name="Connector 9"/>
          <p:cNvCxnSpPr/>
          <p:nvPr/>
        </p:nvCxnSpPr>
        <p:spPr>
          <a:xfrm>
            <a:off x="6035040" y="2743200"/>
            <a:ext cx="0" cy="228600"/>
          </a:xfrm>
          <a:prstGeom prst="line">
            <a:avLst/>
          </a:prstGeom>
          <a:ln w="25400">
            <a:solidFill>
              <a:srgbClr val="5A6E87"/>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94360" y="3977639"/>
            <a:ext cx="2194560" cy="822960"/>
          </a:xfrm>
          <a:prstGeom prst="roundRect">
            <a:avLst/>
          </a:prstGeom>
          <a:solidFill>
            <a:srgbClr val="FAEFDA"/>
          </a:solidFill>
          <a:ln>
            <a:solidFill>
              <a:srgbClr val="4A66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22D3C"/>
                </a:solidFill>
                <a:latin typeface="Arial"/>
              </a:defRPr>
            </a:pPr>
            <a:r>
              <a:t>KMP</a:t>
            </a:r>
            <a:br/>
            <a:r>
              <a:t>Single pattern</a:t>
            </a:r>
          </a:p>
        </p:txBody>
      </p:sp>
      <p:sp>
        <p:nvSpPr>
          <p:cNvPr id="12" name="Rounded Rectangle 11"/>
          <p:cNvSpPr/>
          <p:nvPr/>
        </p:nvSpPr>
        <p:spPr>
          <a:xfrm>
            <a:off x="2880360" y="3977639"/>
            <a:ext cx="2194560" cy="822960"/>
          </a:xfrm>
          <a:prstGeom prst="roundRect">
            <a:avLst/>
          </a:prstGeom>
          <a:solidFill>
            <a:srgbClr val="FAEFDA"/>
          </a:solidFill>
          <a:ln>
            <a:solidFill>
              <a:srgbClr val="4A66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22D3C"/>
                </a:solidFill>
                <a:latin typeface="Arial"/>
              </a:defRPr>
            </a:pPr>
            <a:r>
              <a:t>Edit Distance</a:t>
            </a:r>
            <a:br/>
            <a:r>
              <a:t>Closest word</a:t>
            </a:r>
          </a:p>
        </p:txBody>
      </p:sp>
      <p:sp>
        <p:nvSpPr>
          <p:cNvPr id="13" name="Rounded Rectangle 12"/>
          <p:cNvSpPr/>
          <p:nvPr/>
        </p:nvSpPr>
        <p:spPr>
          <a:xfrm>
            <a:off x="5166360" y="3977639"/>
            <a:ext cx="2194560" cy="822960"/>
          </a:xfrm>
          <a:prstGeom prst="roundRect">
            <a:avLst/>
          </a:prstGeom>
          <a:solidFill>
            <a:srgbClr val="FAEFDA"/>
          </a:solidFill>
          <a:ln>
            <a:solidFill>
              <a:srgbClr val="4A66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22D3C"/>
                </a:solidFill>
                <a:latin typeface="Arial"/>
              </a:defRPr>
            </a:pPr>
            <a:r>
              <a:t>Aho-Corasick</a:t>
            </a:r>
            <a:br/>
            <a:r>
              <a:t>Multiple keywords</a:t>
            </a:r>
          </a:p>
        </p:txBody>
      </p:sp>
      <p:sp>
        <p:nvSpPr>
          <p:cNvPr id="14" name="Rounded Rectangle 13"/>
          <p:cNvSpPr/>
          <p:nvPr/>
        </p:nvSpPr>
        <p:spPr>
          <a:xfrm>
            <a:off x="7452360" y="3977639"/>
            <a:ext cx="2194560" cy="822960"/>
          </a:xfrm>
          <a:prstGeom prst="roundRect">
            <a:avLst/>
          </a:prstGeom>
          <a:solidFill>
            <a:srgbClr val="FAEFDA"/>
          </a:solidFill>
          <a:ln>
            <a:solidFill>
              <a:srgbClr val="4A66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22D3C"/>
                </a:solidFill>
                <a:latin typeface="Arial"/>
              </a:defRPr>
            </a:pPr>
            <a:r>
              <a:t>Suffix Array / LCP</a:t>
            </a:r>
            <a:br/>
            <a:r>
              <a:t>First 6,000 chars</a:t>
            </a:r>
          </a:p>
        </p:txBody>
      </p:sp>
      <p:cxnSp>
        <p:nvCxnSpPr>
          <p:cNvPr id="15" name="Connector 14"/>
          <p:cNvCxnSpPr/>
          <p:nvPr/>
        </p:nvCxnSpPr>
        <p:spPr>
          <a:xfrm flipH="1">
            <a:off x="1691640" y="3657600"/>
            <a:ext cx="4343400" cy="320039"/>
          </a:xfrm>
          <a:prstGeom prst="line">
            <a:avLst/>
          </a:prstGeom>
          <a:ln w="25400">
            <a:solidFill>
              <a:srgbClr val="5A6E87"/>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3977639" y="3657600"/>
            <a:ext cx="2057401" cy="320039"/>
          </a:xfrm>
          <a:prstGeom prst="line">
            <a:avLst/>
          </a:prstGeom>
          <a:ln w="25400">
            <a:solidFill>
              <a:srgbClr val="5A6E87"/>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035040" y="3657600"/>
            <a:ext cx="228600" cy="320039"/>
          </a:xfrm>
          <a:prstGeom prst="line">
            <a:avLst/>
          </a:prstGeom>
          <a:ln w="25400">
            <a:solidFill>
              <a:srgbClr val="5A6E87"/>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035040" y="3657600"/>
            <a:ext cx="2514600" cy="320039"/>
          </a:xfrm>
          <a:prstGeom prst="line">
            <a:avLst/>
          </a:prstGeom>
          <a:ln w="25400">
            <a:solidFill>
              <a:srgbClr val="5A6E8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3246120" y="5257800"/>
            <a:ext cx="3931920" cy="594360"/>
          </a:xfrm>
          <a:prstGeom prst="roundRect">
            <a:avLst/>
          </a:prstGeom>
          <a:solidFill>
            <a:srgbClr val="DEEBF9"/>
          </a:solidFill>
          <a:ln>
            <a:solidFill>
              <a:srgbClr val="4A66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22D3C"/>
                </a:solidFill>
                <a:latin typeface="Arial"/>
              </a:defRPr>
            </a:pPr>
            <a:r>
              <a:t>Display results / choose another operation / exit</a:t>
            </a:r>
          </a:p>
        </p:txBody>
      </p:sp>
      <p:cxnSp>
        <p:nvCxnSpPr>
          <p:cNvPr id="20" name="Connector 19"/>
          <p:cNvCxnSpPr/>
          <p:nvPr/>
        </p:nvCxnSpPr>
        <p:spPr>
          <a:xfrm>
            <a:off x="1691640" y="4800600"/>
            <a:ext cx="3520440" cy="457200"/>
          </a:xfrm>
          <a:prstGeom prst="line">
            <a:avLst/>
          </a:prstGeom>
          <a:ln w="25400">
            <a:solidFill>
              <a:srgbClr val="5A6E87"/>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977639" y="4800600"/>
            <a:ext cx="1234441" cy="457200"/>
          </a:xfrm>
          <a:prstGeom prst="line">
            <a:avLst/>
          </a:prstGeom>
          <a:ln w="25400">
            <a:solidFill>
              <a:srgbClr val="5A6E87"/>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5212080" y="4800600"/>
            <a:ext cx="1051560" cy="457200"/>
          </a:xfrm>
          <a:prstGeom prst="line">
            <a:avLst/>
          </a:prstGeom>
          <a:ln w="25400">
            <a:solidFill>
              <a:srgbClr val="5A6E87"/>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5212080" y="4800600"/>
            <a:ext cx="3337560" cy="457200"/>
          </a:xfrm>
          <a:prstGeom prst="line">
            <a:avLst/>
          </a:prstGeom>
          <a:ln w="25400">
            <a:solidFill>
              <a:srgbClr val="5A6E87"/>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739198"/>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739430"/>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Results</a:t>
            </a:r>
            <a:endParaRPr lang="en-US" sz="3200" b="1" dirty="0">
              <a:solidFill>
                <a:schemeClr val="bg1"/>
              </a:solidFill>
            </a:endParaRPr>
          </a:p>
        </p:txBody>
      </p:sp>
      <p:sp>
        <p:nvSpPr>
          <p:cNvPr id="4" name="Text Box 3"/>
          <p:cNvSpPr txBox="1"/>
          <p:nvPr/>
        </p:nvSpPr>
        <p:spPr>
          <a:xfrm>
            <a:off x="1188720" y="1508760"/>
            <a:ext cx="9829800" cy="4800600"/>
          </a:xfrm>
          <a:prstGeom prst="rect">
            <a:avLst/>
          </a:prstGeom>
        </p:spPr>
        <p:txBody>
          <a:bodyPr wrap="square" lIns="73152" rIns="73152" tIns="73152" bIns="73152">
            <a:normAutofit/>
          </a:bodyPr>
          <a:p>
            <a:pPr algn="l">
              <a:spcAft>
                <a:spcPts val="1000"/>
              </a:spcAft>
              <a:defRPr sz="1800" b="0">
                <a:solidFill>
                  <a:srgbClr val="28303A"/>
                </a:solidFill>
                <a:latin typeface="Arial"/>
              </a:defRPr>
            </a:pPr>
            <a:r>
              <a:t>The application provides the following implemented operations:</a:t>
            </a:r>
            <a:endParaRPr sz="3200"/>
          </a:p>
          <a:p>
            <a:pPr algn="l">
              <a:spcAft>
                <a:spcPts val="1000"/>
              </a:spcAft>
              <a:defRPr sz="1800" b="0">
                <a:solidFill>
                  <a:srgbClr val="28303A"/>
                </a:solidFill>
                <a:latin typeface="Arial"/>
              </a:defRPr>
            </a:pPr>
          </a:p>
          <a:p>
            <a:pPr algn="l">
              <a:spcAft>
                <a:spcPts val="1000"/>
              </a:spcAft>
              <a:defRPr sz="1800" b="0">
                <a:solidFill>
                  <a:srgbClr val="28303A"/>
                </a:solidFill>
                <a:latin typeface="Arial"/>
              </a:defRPr>
            </a:pPr>
            <a:r>
              <a:t>1. KMP: searches the complete selected text for one pattern and reports the occurrence count and first matching positions.</a:t>
            </a:r>
          </a:p>
          <a:p>
            <a:pPr algn="l">
              <a:spcAft>
                <a:spcPts val="1000"/>
              </a:spcAft>
              <a:defRPr sz="1800" b="0">
                <a:solidFill>
                  <a:srgbClr val="28303A"/>
                </a:solidFill>
                <a:latin typeface="Arial"/>
              </a:defRPr>
            </a:pPr>
            <a:r>
              <a:t>2. Edit Distance: compares the input against unique words from the dataset and reports the closest match and distance.</a:t>
            </a:r>
          </a:p>
          <a:p>
            <a:pPr algn="l">
              <a:spcAft>
                <a:spcPts val="1000"/>
              </a:spcAft>
              <a:defRPr sz="1800" b="0">
                <a:solidFill>
                  <a:srgbClr val="28303A"/>
                </a:solidFill>
                <a:latin typeface="Arial"/>
              </a:defRPr>
            </a:pPr>
            <a:r>
              <a:t>3. Aho-Corasick: searches multiple keywords in the complete text and reports each keyword's count.</a:t>
            </a:r>
          </a:p>
          <a:p>
            <a:pPr algn="l">
              <a:spcAft>
                <a:spcPts val="1000"/>
              </a:spcAft>
              <a:defRPr sz="1800" b="0">
                <a:solidFill>
                  <a:srgbClr val="28303A"/>
                </a:solidFill>
                <a:latin typeface="Arial"/>
              </a:defRPr>
            </a:pPr>
            <a:r>
              <a:t>4. Suffix Array: sorts suffix indexes for up to the first 6,000 characters and displays the first 20 indexes.</a:t>
            </a:r>
          </a:p>
          <a:p>
            <a:pPr algn="l">
              <a:spcAft>
                <a:spcPts val="1000"/>
              </a:spcAft>
              <a:defRPr sz="1800" b="0">
                <a:solidFill>
                  <a:srgbClr val="28303A"/>
                </a:solidFill>
                <a:latin typeface="Arial"/>
              </a:defRPr>
            </a:pPr>
            <a:r>
              <a:t>5. LCP Array: calculates common-prefix lengths for adjacent sorted suffixes and displays the first 20 values.</a:t>
            </a:r>
          </a:p>
          <a:p>
            <a:pPr algn="l">
              <a:spcAft>
                <a:spcPts val="1000"/>
              </a:spcAft>
              <a:defRPr sz="1800" b="0">
                <a:solidFill>
                  <a:srgbClr val="28303A"/>
                </a:solidFill>
                <a:latin typeface="Arial"/>
              </a:defRPr>
            </a:pPr>
          </a:p>
          <a:p>
            <a:pPr algn="l">
              <a:spcAft>
                <a:spcPts val="1000"/>
              </a:spcAft>
              <a:defRPr sz="1800" b="0">
                <a:solidFill>
                  <a:srgbClr val="28303A"/>
                </a:solidFill>
                <a:latin typeface="Arial"/>
              </a:defRPr>
            </a:pPr>
            <a:r>
              <a:t>The predefined dataset contains approximately 4.46 million characters and 25,000 newline-separated records. Actual output screenshots should be added from a program run. Execution-time comparison is not implemented in the current version.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322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Hardware and Software requirements</a:t>
            </a:r>
            <a:endParaRPr lang="en-US" sz="2800" b="1" dirty="0">
              <a:solidFill>
                <a:schemeClr val="bg1"/>
              </a:solidFill>
            </a:endParaRPr>
          </a:p>
        </p:txBody>
      </p:sp>
      <p:sp>
        <p:nvSpPr>
          <p:cNvPr id="4" name="Text Box 3"/>
          <p:cNvSpPr txBox="1"/>
          <p:nvPr/>
        </p:nvSpPr>
        <p:spPr>
          <a:xfrm>
            <a:off x="1417320" y="1188720"/>
            <a:ext cx="9372600" cy="5212080"/>
          </a:xfrm>
          <a:prstGeom prst="rect">
            <a:avLst/>
          </a:prstGeom>
        </p:spPr>
        <p:txBody>
          <a:bodyPr wrap="square" lIns="73152" rIns="73152" tIns="73152" bIns="73152">
            <a:normAutofit/>
          </a:bodyPr>
          <a:p>
            <a:pPr algn="l">
              <a:spcAft>
                <a:spcPts val="1000"/>
              </a:spcAft>
              <a:defRPr sz="2000" b="0">
                <a:solidFill>
                  <a:srgbClr val="28303A"/>
                </a:solidFill>
                <a:latin typeface="Arial"/>
              </a:defRPr>
            </a:pPr>
            <a:r>
              <a:t>Hardware Requirements</a:t>
            </a:r>
            <a:endParaRPr lang="en-US" altLang="en-US" sz="3200"/>
          </a:p>
          <a:p>
            <a:pPr algn="l">
              <a:spcAft>
                <a:spcPts val="1000"/>
              </a:spcAft>
              <a:defRPr sz="2000" b="0">
                <a:solidFill>
                  <a:srgbClr val="28303A"/>
                </a:solidFill>
                <a:latin typeface="Arial"/>
              </a:defRPr>
            </a:pPr>
            <a:r>
              <a:t>• Computer or laptop</a:t>
            </a:r>
          </a:p>
          <a:p>
            <a:pPr algn="l">
              <a:spcAft>
                <a:spcPts val="1000"/>
              </a:spcAft>
              <a:defRPr sz="2000" b="0">
                <a:solidFill>
                  <a:srgbClr val="28303A"/>
                </a:solidFill>
                <a:latin typeface="Arial"/>
              </a:defRPr>
            </a:pPr>
            <a:r>
              <a:t>• 4 GB RAM or more recommended</a:t>
            </a:r>
          </a:p>
          <a:p>
            <a:pPr algn="l">
              <a:spcAft>
                <a:spcPts val="1000"/>
              </a:spcAft>
              <a:defRPr sz="2000" b="0">
                <a:solidFill>
                  <a:srgbClr val="28303A"/>
                </a:solidFill>
                <a:latin typeface="Arial"/>
              </a:defRPr>
            </a:pPr>
            <a:r>
              <a:t>• Intel Core i3 or equivalent processor</a:t>
            </a:r>
          </a:p>
          <a:p>
            <a:pPr algn="l">
              <a:spcAft>
                <a:spcPts val="1000"/>
              </a:spcAft>
              <a:defRPr sz="2000" b="0">
                <a:solidFill>
                  <a:srgbClr val="28303A"/>
                </a:solidFill>
                <a:latin typeface="Arial"/>
              </a:defRPr>
            </a:pPr>
            <a:r>
              <a:t>• Sufficient storage for the dataset and JDK</a:t>
            </a:r>
          </a:p>
          <a:p>
            <a:pPr algn="l">
              <a:spcAft>
                <a:spcPts val="1000"/>
              </a:spcAft>
              <a:defRPr sz="2000" b="0">
                <a:solidFill>
                  <a:srgbClr val="28303A"/>
                </a:solidFill>
                <a:latin typeface="Arial"/>
              </a:defRPr>
            </a:pPr>
          </a:p>
          <a:p>
            <a:pPr algn="l">
              <a:spcAft>
                <a:spcPts val="1000"/>
              </a:spcAft>
              <a:defRPr sz="2000" b="0">
                <a:solidFill>
                  <a:srgbClr val="28303A"/>
                </a:solidFill>
                <a:latin typeface="Arial"/>
              </a:defRPr>
            </a:pPr>
            <a:r>
              <a:t>Software Requirements</a:t>
            </a:r>
          </a:p>
          <a:p>
            <a:pPr algn="l">
              <a:spcAft>
                <a:spcPts val="1000"/>
              </a:spcAft>
              <a:defRPr sz="2000" b="0">
                <a:solidFill>
                  <a:srgbClr val="28303A"/>
                </a:solidFill>
                <a:latin typeface="Arial"/>
              </a:defRPr>
            </a:pPr>
            <a:r>
              <a:t>• Java Development Kit (JDK)</a:t>
            </a:r>
          </a:p>
          <a:p>
            <a:pPr algn="l">
              <a:spcAft>
                <a:spcPts val="1000"/>
              </a:spcAft>
              <a:defRPr sz="2000" b="0">
                <a:solidFill>
                  <a:srgbClr val="28303A"/>
                </a:solidFill>
                <a:latin typeface="Arial"/>
              </a:defRPr>
            </a:pPr>
            <a:r>
              <a:t>• Java compiler (javac) and Java Virtual Machine (JVM)</a:t>
            </a:r>
          </a:p>
          <a:p>
            <a:pPr algn="l">
              <a:spcAft>
                <a:spcPts val="1000"/>
              </a:spcAft>
              <a:defRPr sz="2000" b="0">
                <a:solidFill>
                  <a:srgbClr val="28303A"/>
                </a:solidFill>
                <a:latin typeface="Arial"/>
              </a:defRPr>
            </a:pPr>
            <a:r>
              <a:t>• Windows, Linux, or macOS</a:t>
            </a:r>
          </a:p>
          <a:p>
            <a:pPr algn="l">
              <a:spcAft>
                <a:spcPts val="1000"/>
              </a:spcAft>
              <a:defRPr sz="2000" b="0">
                <a:solidFill>
                  <a:srgbClr val="28303A"/>
                </a:solidFill>
                <a:latin typeface="Arial"/>
              </a:defRPr>
            </a:pPr>
            <a:r>
              <a:t>• VS Code, IntelliJ IDEA, Eclipse, or another text editor/IDE</a:t>
            </a:r>
          </a:p>
          <a:p>
            <a:pPr algn="l">
              <a:spcAft>
                <a:spcPts val="1000"/>
              </a:spcAft>
              <a:defRPr sz="2000" b="0">
                <a:solidFill>
                  <a:srgbClr val="28303A"/>
                </a:solidFill>
                <a:latin typeface="Arial"/>
              </a:defRPr>
            </a:pPr>
            <a:r>
              <a:t>• Command Prompt or terminal</a:t>
            </a:r>
          </a:p>
          <a:p>
            <a:pPr algn="l">
              <a:spcAft>
                <a:spcPts val="1000"/>
              </a:spcAft>
              <a:defRPr sz="2000" b="0">
                <a:solidFill>
                  <a:srgbClr val="28303A"/>
                </a:solidFill>
                <a:latin typeface="Arial"/>
              </a:defRPr>
            </a:pPr>
            <a:r>
              <a:t>• Plain-text dataset (.txt)</a:t>
            </a:r>
          </a:p>
          <a:p>
            <a:pPr algn="l">
              <a:spcAft>
                <a:spcPts val="1000"/>
              </a:spcAft>
              <a:defRPr sz="2000" b="0">
                <a:solidFill>
                  <a:srgbClr val="28303A"/>
                </a:solidFill>
                <a:latin typeface="Arial"/>
              </a:defRPr>
            </a:pPr>
          </a:p>
          <a:p>
            <a:pPr algn="l">
              <a:spcAft>
                <a:spcPts val="1000"/>
              </a:spcAft>
              <a:defRPr sz="2000" b="0">
                <a:solidFill>
                  <a:srgbClr val="28303A"/>
                </a:solidFill>
                <a:latin typeface="Arial"/>
              </a:defRPr>
            </a:pPr>
            <a:r>
              <a:t>The submitted project is a Java console application. HTML, CSS, JavaScript, a web browser, and a database are not required for the current implementation.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5474" y="106241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532437" y="1062298"/>
            <a:ext cx="6871855" cy="584775"/>
          </a:xfrm>
          <a:prstGeom prst="rect">
            <a:avLst/>
          </a:prstGeom>
          <a:noFill/>
        </p:spPr>
        <p:txBody>
          <a:bodyPr wrap="square" rtlCol="0">
            <a:spAutoFit/>
          </a:bodyPr>
          <a:lstStyle/>
          <a:p>
            <a:pPr algn="ctr"/>
            <a:r>
              <a:rPr lang="en-US" sz="3200" b="1" dirty="0">
                <a:solidFill>
                  <a:schemeClr val="bg1"/>
                </a:solidFill>
              </a:rPr>
              <a:t>Conclusion</a:t>
            </a:r>
            <a:endParaRPr lang="en-US" sz="3200" b="1" dirty="0">
              <a:solidFill>
                <a:schemeClr val="bg1"/>
              </a:solidFill>
            </a:endParaRPr>
          </a:p>
        </p:txBody>
      </p:sp>
      <p:sp>
        <p:nvSpPr>
          <p:cNvPr id="4" name="Text Box 3"/>
          <p:cNvSpPr txBox="1"/>
          <p:nvPr/>
        </p:nvSpPr>
        <p:spPr>
          <a:xfrm>
            <a:off x="1417320" y="1508760"/>
            <a:ext cx="9372600" cy="4709160"/>
          </a:xfrm>
          <a:prstGeom prst="rect">
            <a:avLst/>
          </a:prstGeom>
        </p:spPr>
        <p:txBody>
          <a:bodyPr wrap="square" lIns="73152" rIns="73152" tIns="73152" bIns="73152">
            <a:normAutofit/>
          </a:bodyPr>
          <a:p>
            <a:pPr algn="l">
              <a:spcAft>
                <a:spcPts val="1000"/>
              </a:spcAft>
              <a:defRPr sz="2100" b="0">
                <a:solidFill>
                  <a:srgbClr val="28303A"/>
                </a:solidFill>
                <a:latin typeface="Arial"/>
              </a:defRPr>
            </a:pPr>
            <a:r>
              <a:t>The project demonstrates the practical use of five string-processing algorithms in a single Java application. It supports predefined and user-provided text files and provides single-pattern searching, closest-word matching, multiple-keyword searching, suffix indexing, and common-prefix analysis. The project also demonstrates how Java file handling and collections can be combined with algorithmic techniques. The current implementation provides a foundation for future improvements such as performance measurement, advanced indexing, and a graphical interface.</a:t>
            </a:r>
            <a:endParaRPr sz="32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5474" y="956368"/>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729922" y="888829"/>
            <a:ext cx="6871855" cy="584775"/>
          </a:xfrm>
          <a:prstGeom prst="rect">
            <a:avLst/>
          </a:prstGeom>
          <a:noFill/>
        </p:spPr>
        <p:txBody>
          <a:bodyPr wrap="square" rtlCol="0">
            <a:spAutoFit/>
          </a:bodyPr>
          <a:lstStyle/>
          <a:p>
            <a:pPr algn="ctr"/>
            <a:r>
              <a:rPr lang="en-US" sz="3200" b="1" dirty="0">
                <a:solidFill>
                  <a:schemeClr val="bg1"/>
                </a:solidFill>
              </a:rPr>
              <a:t> Future Scope</a:t>
            </a:r>
            <a:endParaRPr lang="en-US" sz="3200" b="1" dirty="0">
              <a:solidFill>
                <a:schemeClr val="bg1"/>
              </a:solidFill>
            </a:endParaRPr>
          </a:p>
        </p:txBody>
      </p:sp>
      <p:sp>
        <p:nvSpPr>
          <p:cNvPr id="2" name="Text Box 1"/>
          <p:cNvSpPr txBox="1"/>
          <p:nvPr/>
        </p:nvSpPr>
        <p:spPr>
          <a:xfrm>
            <a:off x="1417320" y="1508760"/>
            <a:ext cx="9372600" cy="4480560"/>
          </a:xfrm>
          <a:prstGeom prst="rect">
            <a:avLst/>
          </a:prstGeom>
        </p:spPr>
        <p:txBody>
          <a:bodyPr wrap="square" lIns="73152" rIns="73152" tIns="73152" bIns="73152">
            <a:normAutofit/>
          </a:bodyPr>
          <a:p>
            <a:pPr algn="l">
              <a:spcAft>
                <a:spcPts val="1000"/>
              </a:spcAft>
              <a:defRPr sz="2100" b="0">
                <a:solidFill>
                  <a:srgbClr val="28303A"/>
                </a:solidFill>
                <a:latin typeface="Arial"/>
              </a:defRPr>
            </a:pPr>
            <a:r>
              <a:t>Future improvements may include:</a:t>
            </a:r>
            <a:endParaRPr sz="3200"/>
          </a:p>
          <a:p>
            <a:pPr algn="l">
              <a:spcAft>
                <a:spcPts val="1000"/>
              </a:spcAft>
              <a:defRPr sz="2100" b="0">
                <a:solidFill>
                  <a:srgbClr val="28303A"/>
                </a:solidFill>
                <a:latin typeface="Arial"/>
              </a:defRPr>
            </a:pPr>
            <a:r>
              <a:t>• Measuring and comparing algorithm execution times.</a:t>
            </a:r>
          </a:p>
          <a:p>
            <a:pPr algn="l">
              <a:spcAft>
                <a:spcPts val="1000"/>
              </a:spcAft>
              <a:defRPr sz="2100" b="0">
                <a:solidFill>
                  <a:srgbClr val="28303A"/>
                </a:solidFill>
                <a:latin typeface="Arial"/>
              </a:defRPr>
            </a:pPr>
            <a:r>
              <a:t>• Adding Rabin-Karp and the Z Algorithm as additional pattern-matching options.</a:t>
            </a:r>
          </a:p>
          <a:p>
            <a:pPr algn="l">
              <a:spcAft>
                <a:spcPts val="1000"/>
              </a:spcAft>
              <a:defRPr sz="2100" b="0">
                <a:solidFill>
                  <a:srgbClr val="28303A"/>
                </a:solidFill>
                <a:latin typeface="Arial"/>
              </a:defRPr>
            </a:pPr>
            <a:r>
              <a:t>• Using a more efficient Suffix Array construction algorithm for larger text.</a:t>
            </a:r>
          </a:p>
          <a:p>
            <a:pPr algn="l">
              <a:spcAft>
                <a:spcPts val="1000"/>
              </a:spcAft>
              <a:defRPr sz="2100" b="0">
                <a:solidFill>
                  <a:srgbClr val="28303A"/>
                </a:solidFill>
                <a:latin typeface="Arial"/>
              </a:defRPr>
            </a:pPr>
            <a:r>
              <a:t>• Adding a graphical or web-based user interface.</a:t>
            </a:r>
          </a:p>
          <a:p>
            <a:pPr algn="l">
              <a:spcAft>
                <a:spcPts val="1000"/>
              </a:spcAft>
              <a:defRPr sz="2100" b="0">
                <a:solidFill>
                  <a:srgbClr val="28303A"/>
                </a:solidFill>
                <a:latin typeface="Arial"/>
              </a:defRPr>
            </a:pPr>
            <a:r>
              <a:t>• Supporting UTF-8 text and additional document formats.</a:t>
            </a:r>
          </a:p>
          <a:p>
            <a:pPr algn="l">
              <a:spcAft>
                <a:spcPts val="1000"/>
              </a:spcAft>
              <a:defRPr sz="2100" b="0">
                <a:solidFill>
                  <a:srgbClr val="28303A"/>
                </a:solidFill>
                <a:latin typeface="Arial"/>
              </a:defRPr>
            </a:pPr>
            <a:r>
              <a:t>• Adding highlighted matches, search history, and relevance ranking.</a:t>
            </a:r>
          </a:p>
          <a:p>
            <a:pPr algn="l">
              <a:spcAft>
                <a:spcPts val="1000"/>
              </a:spcAft>
              <a:defRPr sz="2100" b="0">
                <a:solidFill>
                  <a:srgbClr val="28303A"/>
                </a:solidFill>
                <a:latin typeface="Arial"/>
              </a:defRPr>
            </a:pPr>
            <a:r>
              <a:t>• Extending the system to search across multiple documents.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smtClean="0"/>
              <a:t>Thank you</a:t>
            </a:r>
            <a:endParaRPr lang="en-US" sz="3200" b="1"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3424</Words>
  <Application>WPS Presentation</Application>
  <PresentationFormat>Widescreen</PresentationFormat>
  <Paragraphs>70</Paragraphs>
  <Slides>13</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13</vt:i4>
      </vt:variant>
    </vt:vector>
  </HeadingPairs>
  <TitlesOfParts>
    <vt:vector size="24" baseType="lpstr">
      <vt:lpstr>Arial</vt:lpstr>
      <vt:lpstr>SimSun</vt:lpstr>
      <vt:lpstr>Wingdings</vt:lpstr>
      <vt:lpstr>Times New Roman</vt:lpstr>
      <vt:lpstr>Gautami</vt:lpstr>
      <vt:lpstr>Segoe UI Symbol</vt:lpstr>
      <vt:lpstr>Calibri</vt:lpstr>
      <vt:lpstr>Microsoft YaHei</vt:lpstr>
      <vt:lpstr>Arial Unicode MS</vt:lpstr>
      <vt:lpstr>Calibri Light</vt:lpstr>
      <vt:lpstr>Office Theme</vt:lpstr>
      <vt:lpstr>       Data Structures and Algorithms -3 (25CS2103E)  Text Search and Intelligent Query Engine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THANU</cp:lastModifiedBy>
  <cp:revision>22</cp:revision>
  <dcterms:created xsi:type="dcterms:W3CDTF">2024-08-29T05:25:00Z</dcterms:created>
  <dcterms:modified xsi:type="dcterms:W3CDTF">2026-08-26T08:15:31Z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24DE258D7BDF438C83951788BD7E8720_13</vt:lpwstr>
  </property>
  <property fmtid="{D5CDD505-2E9C-101B-9397-08002B2CF9AE}" pid="3" name="KSOProductBuildVer">
    <vt:lpwstr>1033-12.1.0.28032</vt:lpwstr>
  </property>
</Properties>
</file>