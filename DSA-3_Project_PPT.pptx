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70" r:id="rId8"/>
    <p:sldId id="259" r:id="rId9"/>
    <p:sldId id="267" r:id="rId10"/>
    <p:sldId id="266" r:id="rId11"/>
    <p:sldId id="260" r:id="rId12"/>
    <p:sldId id="262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sika Peddina" userId="0a25584e6d77972b" providerId="LiveId" clId="{9A3C3C37-A6E1-428F-8F58-D52E9F9B9DB6}"/>
    <pc:docChg chg="undo custSel modSld">
      <pc:chgData name="Hamsika Peddina" userId="0a25584e6d77972b" providerId="LiveId" clId="{9A3C3C37-A6E1-428F-8F58-D52E9F9B9DB6}" dt="2026-10-12T05:28:42.234" v="48" actId="12"/>
      <pc:docMkLst>
        <pc:docMk/>
      </pc:docMkLst>
      <pc:sldChg chg="modSp mod">
        <pc:chgData name="Hamsika Peddina" userId="0a25584e6d77972b" providerId="LiveId" clId="{9A3C3C37-A6E1-428F-8F58-D52E9F9B9DB6}" dt="2026-10-12T05:28:42.234" v="48" actId="12"/>
        <pc:sldMkLst>
          <pc:docMk/>
          <pc:sldMk cId="0" sldId="257"/>
        </pc:sldMkLst>
        <pc:spChg chg="mod">
          <ac:chgData name="Hamsika Peddina" userId="0a25584e6d77972b" providerId="LiveId" clId="{9A3C3C37-A6E1-428F-8F58-D52E9F9B9DB6}" dt="2026-10-12T05:28:42.234" v="48" actId="12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Hamsika Peddina" userId="0a25584e6d77972b" providerId="LiveId" clId="{9A3C3C37-A6E1-428F-8F58-D52E9F9B9DB6}" dt="2026-10-12T05:28:21.471" v="43" actId="207"/>
        <pc:sldMkLst>
          <pc:docMk/>
          <pc:sldMk cId="0" sldId="258"/>
        </pc:sldMkLst>
        <pc:spChg chg="mod">
          <ac:chgData name="Hamsika Peddina" userId="0a25584e6d77972b" providerId="LiveId" clId="{9A3C3C37-A6E1-428F-8F58-D52E9F9B9DB6}" dt="2026-10-12T05:28:21.471" v="43" actId="207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Hamsika Peddina" userId="0a25584e6d77972b" providerId="LiveId" clId="{9A3C3C37-A6E1-428F-8F58-D52E9F9B9DB6}" dt="2026-10-12T05:26:33.787" v="9" actId="1076"/>
        <pc:sldMkLst>
          <pc:docMk/>
          <pc:sldMk cId="0" sldId="260"/>
        </pc:sldMkLst>
        <pc:spChg chg="mod">
          <ac:chgData name="Hamsika Peddina" userId="0a25584e6d77972b" providerId="LiveId" clId="{9A3C3C37-A6E1-428F-8F58-D52E9F9B9DB6}" dt="2026-10-12T05:26:33.787" v="9" actId="1076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Hamsika Peddina" userId="0a25584e6d77972b" providerId="LiveId" clId="{9A3C3C37-A6E1-428F-8F58-D52E9F9B9DB6}" dt="2026-10-12T05:28:14.798" v="41" actId="1076"/>
        <pc:sldMkLst>
          <pc:docMk/>
          <pc:sldMk cId="0" sldId="261"/>
        </pc:sldMkLst>
        <pc:spChg chg="mod">
          <ac:chgData name="Hamsika Peddina" userId="0a25584e6d77972b" providerId="LiveId" clId="{9A3C3C37-A6E1-428F-8F58-D52E9F9B9DB6}" dt="2026-10-12T05:28:14.798" v="41" actId="1076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Hamsika Peddina" userId="0a25584e6d77972b" providerId="LiveId" clId="{9A3C3C37-A6E1-428F-8F58-D52E9F9B9DB6}" dt="2026-10-12T05:26:43.921" v="11" actId="1076"/>
        <pc:sldMkLst>
          <pc:docMk/>
          <pc:sldMk cId="0" sldId="262"/>
        </pc:sldMkLst>
        <pc:spChg chg="mod">
          <ac:chgData name="Hamsika Peddina" userId="0a25584e6d77972b" providerId="LiveId" clId="{9A3C3C37-A6E1-428F-8F58-D52E9F9B9DB6}" dt="2026-10-12T05:26:43.921" v="11" actId="1076"/>
          <ac:spMkLst>
            <pc:docMk/>
            <pc:sldMk cId="0" sldId="262"/>
            <ac:spMk id="2" creationId="{00000000-0000-0000-0000-000000000000}"/>
          </ac:spMkLst>
        </pc:spChg>
      </pc:sldChg>
      <pc:sldChg chg="modSp mod">
        <pc:chgData name="Hamsika Peddina" userId="0a25584e6d77972b" providerId="LiveId" clId="{9A3C3C37-A6E1-428F-8F58-D52E9F9B9DB6}" dt="2026-10-12T05:28:31.620" v="46" actId="14100"/>
        <pc:sldMkLst>
          <pc:docMk/>
          <pc:sldMk cId="0" sldId="264"/>
        </pc:sldMkLst>
        <pc:spChg chg="mod">
          <ac:chgData name="Hamsika Peddina" userId="0a25584e6d77972b" providerId="LiveId" clId="{9A3C3C37-A6E1-428F-8F58-D52E9F9B9DB6}" dt="2026-10-12T05:28:31.620" v="46" actId="14100"/>
          <ac:spMkLst>
            <pc:docMk/>
            <pc:sldMk cId="0" sldId="264"/>
            <ac:spMk id="5" creationId="{00000000-0000-0000-0000-000000000000}"/>
          </ac:spMkLst>
        </pc:spChg>
      </pc:sldChg>
      <pc:sldChg chg="modSp mod">
        <pc:chgData name="Hamsika Peddina" userId="0a25584e6d77972b" providerId="LiveId" clId="{9A3C3C37-A6E1-428F-8F58-D52E9F9B9DB6}" dt="2026-10-12T05:28:05.851" v="38" actId="207"/>
        <pc:sldMkLst>
          <pc:docMk/>
          <pc:sldMk cId="0" sldId="265"/>
        </pc:sldMkLst>
        <pc:spChg chg="mod">
          <ac:chgData name="Hamsika Peddina" userId="0a25584e6d77972b" providerId="LiveId" clId="{9A3C3C37-A6E1-428F-8F58-D52E9F9B9DB6}" dt="2026-10-12T05:28:05.851" v="38" actId="207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Hamsika Peddina" userId="0a25584e6d77972b" providerId="LiveId" clId="{9A3C3C37-A6E1-428F-8F58-D52E9F9B9DB6}" dt="2026-10-12T05:26:17.307" v="5" actId="207"/>
        <pc:sldMkLst>
          <pc:docMk/>
          <pc:sldMk cId="0" sldId="266"/>
        </pc:sldMkLst>
        <pc:spChg chg="mod">
          <ac:chgData name="Hamsika Peddina" userId="0a25584e6d77972b" providerId="LiveId" clId="{9A3C3C37-A6E1-428F-8F58-D52E9F9B9DB6}" dt="2026-10-12T05:26:17.307" v="5" actId="207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Hamsika Peddina" userId="0a25584e6d77972b" providerId="LiveId" clId="{9A3C3C37-A6E1-428F-8F58-D52E9F9B9DB6}" dt="2026-10-12T05:26:50.923" v="12" actId="207"/>
        <pc:sldMkLst>
          <pc:docMk/>
          <pc:sldMk cId="0" sldId="267"/>
        </pc:sldMkLst>
        <pc:spChg chg="mod">
          <ac:chgData name="Hamsika Peddina" userId="0a25584e6d77972b" providerId="LiveId" clId="{9A3C3C37-A6E1-428F-8F58-D52E9F9B9DB6}" dt="2026-10-12T05:26:50.923" v="12" actId="207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Hamsika Peddina" userId="0a25584e6d77972b" providerId="LiveId" clId="{9A3C3C37-A6E1-428F-8F58-D52E9F9B9DB6}" dt="2026-10-12T05:27:52.268" v="35" actId="1076"/>
        <pc:sldMkLst>
          <pc:docMk/>
          <pc:sldMk cId="0" sldId="270"/>
        </pc:sldMkLst>
        <pc:spChg chg="mod">
          <ac:chgData name="Hamsika Peddina" userId="0a25584e6d77972b" providerId="LiveId" clId="{9A3C3C37-A6E1-428F-8F58-D52E9F9B9DB6}" dt="2026-10-12T05:27:52.268" v="35" actId="1076"/>
          <ac:spMkLst>
            <pc:docMk/>
            <pc:sldMk cId="0" sldId="270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679160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altLang="en-US" sz="4000" b="1" dirty="0">
                <a:solidFill>
                  <a:srgbClr val="C00000"/>
                </a:solidFill>
                <a:latin typeface="+mn-lt"/>
              </a:rPr>
              <a:t>Text Search and Intelligent Query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2190" y="3129984"/>
            <a:ext cx="4551284" cy="1396014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Team Members </a:t>
            </a:r>
          </a:p>
          <a:p>
            <a:pPr algn="ctr"/>
            <a:r>
              <a:rPr lang="en-US" sz="2000" dirty="0">
                <a:solidFill>
                  <a:srgbClr val="0070C0"/>
                </a:solidFill>
              </a:rPr>
              <a:t>       V.VedaPriya   2520030376 </a:t>
            </a:r>
          </a:p>
          <a:p>
            <a:pPr algn="ctr"/>
            <a:r>
              <a:rPr lang="en-US" sz="2000" dirty="0">
                <a:solidFill>
                  <a:srgbClr val="0070C0"/>
                </a:solidFill>
                <a:sym typeface="+mn-ea"/>
              </a:rPr>
              <a:t>        M.Thanishka 2520030583</a:t>
            </a:r>
            <a:endParaRPr lang="en-US" sz="2000" dirty="0">
              <a:solidFill>
                <a:srgbClr val="0070C0"/>
              </a:solidFill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0070C0"/>
                </a:solidFill>
              </a:rPr>
              <a:t>     P.Hamsika     2520030586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</a:rPr>
              <a:t>Dr.Yamini Devi</a:t>
            </a:r>
          </a:p>
          <a:p>
            <a:r>
              <a:rPr lang="en-US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  <a:sym typeface="+mn-ea"/>
              </a:rPr>
              <a:t> department  of CSE</a:t>
            </a:r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square" lIns="73152" tIns="73152" rIns="73152" bIns="73152" rtlCol="0">
            <a:normAutofit/>
          </a:bodyPr>
          <a:lstStyle/>
          <a:p>
            <a:pPr marL="342900" indent="-3429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200" b="0">
                <a:solidFill>
                  <a:srgbClr val="28303A"/>
                </a:solidFill>
                <a:latin typeface="Arial"/>
              </a:defRPr>
            </a:pPr>
            <a:r>
              <a:rPr dirty="0"/>
              <a:t>Abstract</a:t>
            </a:r>
            <a:endParaRPr lang="en-US" sz="3200" b="0" i="0" u="none" strike="noStrike" kern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342900" indent="-342900" algn="l">
              <a:spcAft>
                <a:spcPts val="1000"/>
              </a:spcAft>
              <a:buFont typeface="Arial" panose="020B0604020202020204" pitchFamily="34" charset="0"/>
              <a:buChar char="•"/>
              <a:defRPr sz="2200" b="0">
                <a:solidFill>
                  <a:srgbClr val="28303A"/>
                </a:solidFill>
                <a:latin typeface="Arial"/>
              </a:defRPr>
            </a:pPr>
            <a:r>
              <a:rPr dirty="0"/>
              <a:t>Introduction</a:t>
            </a:r>
          </a:p>
          <a:p>
            <a:pPr marL="342900" indent="-342900" algn="l">
              <a:spcAft>
                <a:spcPts val="1000"/>
              </a:spcAft>
              <a:buFont typeface="Arial" panose="020B0604020202020204" pitchFamily="34" charset="0"/>
              <a:buChar char="•"/>
              <a:defRPr sz="2200" b="0">
                <a:solidFill>
                  <a:srgbClr val="28303A"/>
                </a:solidFill>
                <a:latin typeface="Arial"/>
              </a:defRPr>
            </a:pPr>
            <a:r>
              <a:rPr dirty="0"/>
              <a:t>Literature Survey</a:t>
            </a:r>
          </a:p>
          <a:p>
            <a:pPr marL="342900" indent="-342900" algn="l">
              <a:spcAft>
                <a:spcPts val="1000"/>
              </a:spcAft>
              <a:buFont typeface="Arial" panose="020B0604020202020204" pitchFamily="34" charset="0"/>
              <a:buChar char="•"/>
              <a:defRPr sz="2200" b="0">
                <a:solidFill>
                  <a:srgbClr val="28303A"/>
                </a:solidFill>
                <a:latin typeface="Arial"/>
              </a:defRPr>
            </a:pPr>
            <a:r>
              <a:rPr dirty="0"/>
              <a:t>Problem Statement and Objectives</a:t>
            </a:r>
          </a:p>
          <a:p>
            <a:pPr marL="342900" indent="-342900" algn="l">
              <a:spcAft>
                <a:spcPts val="1000"/>
              </a:spcAft>
              <a:buFont typeface="Arial" panose="020B0604020202020204" pitchFamily="34" charset="0"/>
              <a:buChar char="•"/>
              <a:defRPr sz="2200" b="0">
                <a:solidFill>
                  <a:srgbClr val="28303A"/>
                </a:solidFill>
                <a:latin typeface="Arial"/>
              </a:defRPr>
            </a:pPr>
            <a:r>
              <a:rPr dirty="0"/>
              <a:t>System Flow Chart</a:t>
            </a:r>
          </a:p>
          <a:p>
            <a:pPr marL="342900" indent="-342900" algn="l">
              <a:spcAft>
                <a:spcPts val="1000"/>
              </a:spcAft>
              <a:buFont typeface="Arial" panose="020B0604020202020204" pitchFamily="34" charset="0"/>
              <a:buChar char="•"/>
              <a:defRPr sz="2200" b="0">
                <a:solidFill>
                  <a:srgbClr val="28303A"/>
                </a:solidFill>
                <a:latin typeface="Arial"/>
              </a:defRPr>
            </a:pPr>
            <a:r>
              <a:rPr dirty="0"/>
              <a:t>Hardware and Software Requirements</a:t>
            </a:r>
          </a:p>
          <a:p>
            <a:pPr marL="342900" indent="-342900" algn="l">
              <a:spcAft>
                <a:spcPts val="1000"/>
              </a:spcAft>
              <a:buFont typeface="Arial" panose="020B0604020202020204" pitchFamily="34" charset="0"/>
              <a:buChar char="•"/>
              <a:defRPr sz="2200" b="0">
                <a:solidFill>
                  <a:srgbClr val="28303A"/>
                </a:solidFill>
                <a:latin typeface="Arial"/>
              </a:defRPr>
            </a:pPr>
            <a:r>
              <a:rPr dirty="0"/>
              <a:t>Implementation Overview</a:t>
            </a:r>
          </a:p>
          <a:p>
            <a:pPr marL="342900" indent="-342900" algn="l">
              <a:spcAft>
                <a:spcPts val="1000"/>
              </a:spcAft>
              <a:buFont typeface="Arial" panose="020B0604020202020204" pitchFamily="34" charset="0"/>
              <a:buChar char="•"/>
              <a:defRPr sz="2200" b="0">
                <a:solidFill>
                  <a:srgbClr val="28303A"/>
                </a:solidFill>
                <a:latin typeface="Arial"/>
              </a:defRPr>
            </a:pPr>
            <a:r>
              <a:rPr dirty="0"/>
              <a:t>Results and Discussion</a:t>
            </a:r>
          </a:p>
          <a:p>
            <a:pPr marL="342900" indent="-342900" algn="l">
              <a:spcAft>
                <a:spcPts val="1000"/>
              </a:spcAft>
              <a:buFont typeface="Arial" panose="020B0604020202020204" pitchFamily="34" charset="0"/>
              <a:buChar char="•"/>
              <a:defRPr sz="2200" b="0">
                <a:solidFill>
                  <a:srgbClr val="28303A"/>
                </a:solidFill>
                <a:latin typeface="Arial"/>
              </a:defRPr>
            </a:pPr>
            <a:r>
              <a:rPr dirty="0"/>
              <a:t>Conclusion</a:t>
            </a:r>
          </a:p>
          <a:p>
            <a:pPr marL="342900" indent="-342900" algn="l">
              <a:spcAft>
                <a:spcPts val="1000"/>
              </a:spcAft>
              <a:buFont typeface="Arial" panose="020B0604020202020204" pitchFamily="34" charset="0"/>
              <a:buChar char="•"/>
              <a:defRPr sz="2200" b="0">
                <a:solidFill>
                  <a:srgbClr val="28303A"/>
                </a:solidFill>
                <a:latin typeface="Arial"/>
              </a:defRPr>
            </a:pPr>
            <a:r>
              <a:rPr dirty="0"/>
              <a:t>Future Scope</a:t>
            </a:r>
          </a:p>
        </p:txBody>
      </p:sp>
      <p:sp>
        <p:nvSpPr>
          <p:cNvPr id="8" name="Rectangle: Rounded Corners 7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5474" y="739198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659367" y="1752600"/>
            <a:ext cx="9372600" cy="385034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73152" tIns="73152" rIns="73152" bIns="73152">
            <a:normAutofit/>
          </a:bodyPr>
          <a:lstStyle/>
          <a:p>
            <a:pPr lvl="1" algn="l">
              <a:spcAft>
                <a:spcPts val="1000"/>
              </a:spcAft>
              <a:defRPr sz="1900" b="0">
                <a:solidFill>
                  <a:srgbClr val="28303A"/>
                </a:solidFill>
                <a:latin typeface="Arial"/>
              </a:defRPr>
            </a:pPr>
            <a:r>
              <a:rPr dirty="0"/>
              <a:t>The Text Search and Intelligent Query Engine is a Java-based console application for searching and analyzing text files. It supports a predefined dataset and a user-provided .txt file. The implemented algorithms are Knuth-Morris-Pratt (KMP) for single-pattern searching, Edit Distance for closest-word matching, Aho-</a:t>
            </a:r>
            <a:r>
              <a:rPr dirty="0" err="1"/>
              <a:t>Corasick</a:t>
            </a:r>
            <a:r>
              <a:rPr dirty="0"/>
              <a:t> for multiple-keyword searching, Suffix Array for suffix indexing, and LCP Array for common-prefix analysis. The selected text is shared across operations. KMP, Edit Distance, and Aho-</a:t>
            </a:r>
            <a:r>
              <a:rPr dirty="0" err="1"/>
              <a:t>Corasick</a:t>
            </a:r>
            <a:r>
              <a:rPr dirty="0"/>
              <a:t> process the complete text, while Suffix Array and LCP Array analyze up to the first 6,000 characters. The current version does not implement Rabin-Karp, the Z Algorithm, execution-time benchmarking, or a web interface.</a:t>
            </a:r>
            <a:endParaRPr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2660072" y="739198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59378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76582" y="59401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417320" y="1508760"/>
            <a:ext cx="9372600" cy="357422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73152" tIns="73152" rIns="73152" bIns="73152">
            <a:normAutofit/>
          </a:bodyPr>
          <a:lstStyle/>
          <a:p>
            <a:pPr algn="l">
              <a:spcAft>
                <a:spcPts val="1000"/>
              </a:spcAft>
              <a:defRPr sz="2100" b="0">
                <a:solidFill>
                  <a:srgbClr val="28303A"/>
                </a:solidFill>
                <a:latin typeface="Arial"/>
              </a:defRPr>
            </a:pPr>
            <a:r>
              <a:rPr dirty="0"/>
              <a:t>Text searching is used in document processing, search tools, and information retrieval. As text collections grow, efficient algorithms help locate patterns and analyze content. Our project brings five string-processing techniques into one Java console application. The user selects a dataset, chooses an operation from the menu, and views the result. The Main class controls the program flow, </a:t>
            </a:r>
            <a:r>
              <a:rPr dirty="0" err="1"/>
              <a:t>DataSet</a:t>
            </a:r>
            <a:r>
              <a:rPr dirty="0"/>
              <a:t> reads and stores the text, and each algorithm class performs its specific task. The application can read the included dataset or a custom plain-text file from the local computer.</a:t>
            </a:r>
            <a:endParaRPr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5474" y="739198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672120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409700" y="1958788"/>
            <a:ext cx="9372600" cy="372483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73152" tIns="73152" rIns="73152" bIns="73152">
            <a:norm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28303A"/>
                </a:solidFill>
                <a:latin typeface="Arial"/>
              </a:defRPr>
            </a:pPr>
            <a:r>
              <a:rPr dirty="0"/>
              <a:t>String-processing systems use different algorithms depending on the search task. Knuth-Morris-Pratt (KMP) uses an LPS array to avoid repeating comparisons during single-pattern searching. Edit Distance uses dynamic programming to measure the minimum insertions, deletions, and substitutions between words. Aho-</a:t>
            </a:r>
            <a:r>
              <a:rPr dirty="0" err="1"/>
              <a:t>Corasick</a:t>
            </a:r>
            <a:r>
              <a:rPr dirty="0"/>
              <a:t> combines multiple patterns in a </a:t>
            </a:r>
            <a:r>
              <a:rPr dirty="0" err="1"/>
              <a:t>trie</a:t>
            </a:r>
            <a:r>
              <a:rPr dirty="0"/>
              <a:t> and uses failure links to search for them in one text traversal. Suffix Arrays organize suffixes in sorted order, while LCP Arrays store common-prefix lengths between adjacent suffixes. These five techniques are implemented in this project.</a:t>
            </a:r>
            <a:endParaRPr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808662" y="640138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640039"/>
            <a:ext cx="68718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409700" y="2164556"/>
            <a:ext cx="9372600" cy="284808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73152" tIns="73152" rIns="73152" bIns="73152">
            <a:normAutofit/>
          </a:bodyPr>
          <a:lstStyle/>
          <a:p>
            <a:pPr algn="l">
              <a:spcAft>
                <a:spcPts val="1000"/>
              </a:spcAft>
              <a:defRPr sz="2100" b="0">
                <a:solidFill>
                  <a:srgbClr val="28303A"/>
                </a:solidFill>
                <a:latin typeface="Arial"/>
              </a:defRPr>
            </a:pPr>
            <a:r>
              <a:rPr dirty="0"/>
              <a:t>Searching and analyzing text involves several different tasks: finding one pattern, identifying a likely spelling match, searching multiple keywords, and examining repeated prefixes. Using a separate basic approach for each task can be inefficient. The project addresses this by providing a menu-driven Java application that loads a text dataset once and applies an appropriate algorithm according to the user's choice.</a:t>
            </a:r>
            <a:endParaRPr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Objectives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524000" y="1612302"/>
            <a:ext cx="9144000" cy="363339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73152" tIns="73152" rIns="73152" bIns="73152">
            <a:normAutofit/>
          </a:bodyPr>
          <a:lstStyle/>
          <a:p>
            <a:pPr marL="342900" indent="-342900" algn="l"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8303A"/>
                </a:solidFill>
                <a:latin typeface="Arial"/>
              </a:defRPr>
            </a:pPr>
            <a:r>
              <a:rPr dirty="0"/>
              <a:t>Load the predefined dataset or a user-selected .txt file.</a:t>
            </a:r>
            <a:endParaRPr lang="en-US" altLang="en-US" sz="3200" dirty="0"/>
          </a:p>
          <a:p>
            <a:pPr marL="342900" indent="-342900" algn="l"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8303A"/>
                </a:solidFill>
                <a:latin typeface="Arial"/>
              </a:defRPr>
            </a:pPr>
            <a:r>
              <a:rPr dirty="0"/>
              <a:t>Search for a single pattern using KMP.</a:t>
            </a:r>
          </a:p>
          <a:p>
            <a:pPr marL="342900" indent="-342900" algn="l"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8303A"/>
                </a:solidFill>
                <a:latin typeface="Arial"/>
              </a:defRPr>
            </a:pPr>
            <a:r>
              <a:rPr dirty="0"/>
              <a:t>Find a closest word match using Edit Distance.</a:t>
            </a:r>
          </a:p>
          <a:p>
            <a:pPr marL="342900" indent="-342900" algn="l"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8303A"/>
                </a:solidFill>
                <a:latin typeface="Arial"/>
              </a:defRPr>
            </a:pPr>
            <a:r>
              <a:rPr dirty="0"/>
              <a:t>Search multiple keywords using Aho-</a:t>
            </a:r>
            <a:r>
              <a:rPr dirty="0" err="1"/>
              <a:t>Corasick</a:t>
            </a:r>
            <a:r>
              <a:rPr dirty="0"/>
              <a:t>.</a:t>
            </a:r>
          </a:p>
          <a:p>
            <a:pPr marL="342900" indent="-342900" algn="l"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8303A"/>
                </a:solidFill>
                <a:latin typeface="Arial"/>
              </a:defRPr>
            </a:pPr>
            <a:r>
              <a:rPr dirty="0"/>
              <a:t>Build a Suffix Array for text indexing.</a:t>
            </a:r>
          </a:p>
          <a:p>
            <a:pPr marL="342900" indent="-342900" algn="l"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8303A"/>
                </a:solidFill>
                <a:latin typeface="Arial"/>
              </a:defRPr>
            </a:pPr>
            <a:r>
              <a:rPr dirty="0"/>
              <a:t>Calculate an LCP Array for adjacent sorted suffixes.</a:t>
            </a:r>
          </a:p>
          <a:p>
            <a:pPr marL="342900" indent="-342900" algn="l"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8303A"/>
                </a:solidFill>
                <a:latin typeface="Arial"/>
              </a:defRPr>
            </a:pPr>
            <a:r>
              <a:rPr dirty="0"/>
              <a:t>Demonstrate the use of Java file handling, arrays, collections, queues, and strings.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097280"/>
            <a:ext cx="2926080" cy="594360"/>
          </a:xfrm>
          <a:prstGeom prst="roundRect">
            <a:avLst/>
          </a:prstGeom>
          <a:solidFill>
            <a:srgbClr val="DEEBF9"/>
          </a:solidFill>
          <a:ln>
            <a:solidFill>
              <a:srgbClr val="4A6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22D3C"/>
                </a:solidFill>
                <a:latin typeface="Arial"/>
              </a:defRPr>
            </a:pPr>
            <a:r>
              <a:rPr dirty="0"/>
              <a:t>Start / Run Main.java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097280"/>
            <a:ext cx="2926080" cy="594360"/>
          </a:xfrm>
          <a:prstGeom prst="roundRect">
            <a:avLst/>
          </a:prstGeom>
          <a:solidFill>
            <a:srgbClr val="DEEBF9"/>
          </a:solidFill>
          <a:ln>
            <a:solidFill>
              <a:srgbClr val="4A6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22D3C"/>
                </a:solidFill>
                <a:latin typeface="Arial"/>
              </a:defRPr>
            </a:pPr>
            <a:r>
              <a:t>Select dataset source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39" y="1389888"/>
            <a:ext cx="822961" cy="0"/>
          </a:xfrm>
          <a:prstGeom prst="line">
            <a:avLst/>
          </a:prstGeom>
          <a:ln w="25400">
            <a:solidFill>
              <a:srgbClr val="5A6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0" y="2057400"/>
            <a:ext cx="2926080" cy="685800"/>
          </a:xfrm>
          <a:prstGeom prst="roundRect">
            <a:avLst/>
          </a:prstGeom>
          <a:solidFill>
            <a:srgbClr val="E8F3EB"/>
          </a:solidFill>
          <a:ln>
            <a:solidFill>
              <a:srgbClr val="4A6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22D3C"/>
                </a:solidFill>
                <a:latin typeface="Arial"/>
              </a:defRPr>
            </a:pPr>
            <a:r>
              <a:t>Load .txt using DataSet.java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0" y="1691640"/>
            <a:ext cx="0" cy="365760"/>
          </a:xfrm>
          <a:prstGeom prst="line">
            <a:avLst/>
          </a:prstGeom>
          <a:ln w="25400">
            <a:solidFill>
              <a:srgbClr val="5A6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0" y="2971800"/>
            <a:ext cx="2926080" cy="685800"/>
          </a:xfrm>
          <a:prstGeom prst="roundRect">
            <a:avLst/>
          </a:prstGeom>
          <a:solidFill>
            <a:srgbClr val="E8F3EB"/>
          </a:solidFill>
          <a:ln>
            <a:solidFill>
              <a:srgbClr val="4A6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22D3C"/>
                </a:solidFill>
                <a:latin typeface="Arial"/>
              </a:defRPr>
            </a:pPr>
            <a:r>
              <a:t>Display operation menu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0" y="2743200"/>
            <a:ext cx="0" cy="228600"/>
          </a:xfrm>
          <a:prstGeom prst="line">
            <a:avLst/>
          </a:prstGeom>
          <a:ln w="25400">
            <a:solidFill>
              <a:srgbClr val="5A6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3977639"/>
            <a:ext cx="2194560" cy="822960"/>
          </a:xfrm>
          <a:prstGeom prst="roundRect">
            <a:avLst/>
          </a:prstGeom>
          <a:solidFill>
            <a:srgbClr val="FAEFDA"/>
          </a:solidFill>
          <a:ln>
            <a:solidFill>
              <a:srgbClr val="4A6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22D3C"/>
                </a:solidFill>
                <a:latin typeface="Arial"/>
              </a:defRPr>
            </a:pPr>
            <a:r>
              <a:t>KMP</a:t>
            </a:r>
            <a:br/>
            <a:r>
              <a:t>Single pattern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977639"/>
            <a:ext cx="2194560" cy="822960"/>
          </a:xfrm>
          <a:prstGeom prst="roundRect">
            <a:avLst/>
          </a:prstGeom>
          <a:solidFill>
            <a:srgbClr val="FAEFDA"/>
          </a:solidFill>
          <a:ln>
            <a:solidFill>
              <a:srgbClr val="4A6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22D3C"/>
                </a:solidFill>
                <a:latin typeface="Arial"/>
              </a:defRPr>
            </a:pPr>
            <a:r>
              <a:t>Edit Distance</a:t>
            </a:r>
            <a:br/>
            <a:r>
              <a:t>Closest word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3977639"/>
            <a:ext cx="2194560" cy="822960"/>
          </a:xfrm>
          <a:prstGeom prst="roundRect">
            <a:avLst/>
          </a:prstGeom>
          <a:solidFill>
            <a:srgbClr val="FAEFDA"/>
          </a:solidFill>
          <a:ln>
            <a:solidFill>
              <a:srgbClr val="4A6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22D3C"/>
                </a:solidFill>
                <a:latin typeface="Arial"/>
              </a:defRPr>
            </a:pPr>
            <a:r>
              <a:t>Aho-Corasick</a:t>
            </a:r>
            <a:br/>
            <a:r>
              <a:t>Multiple keywords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3977639"/>
            <a:ext cx="2194560" cy="822960"/>
          </a:xfrm>
          <a:prstGeom prst="roundRect">
            <a:avLst/>
          </a:prstGeom>
          <a:solidFill>
            <a:srgbClr val="FAEFDA"/>
          </a:solidFill>
          <a:ln>
            <a:solidFill>
              <a:srgbClr val="4A6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22D3C"/>
                </a:solidFill>
                <a:latin typeface="Arial"/>
              </a:defRPr>
            </a:pPr>
            <a:r>
              <a:t>Suffix Array / LCP</a:t>
            </a:r>
            <a:br/>
            <a:r>
              <a:t>First 6,000 chars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691640" y="3657600"/>
            <a:ext cx="4343400" cy="320039"/>
          </a:xfrm>
          <a:prstGeom prst="line">
            <a:avLst/>
          </a:prstGeom>
          <a:ln w="25400">
            <a:solidFill>
              <a:srgbClr val="5A6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977639" y="3657600"/>
            <a:ext cx="2057401" cy="320039"/>
          </a:xfrm>
          <a:prstGeom prst="line">
            <a:avLst/>
          </a:prstGeom>
          <a:ln w="25400">
            <a:solidFill>
              <a:srgbClr val="5A6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35040" y="3657600"/>
            <a:ext cx="228600" cy="320039"/>
          </a:xfrm>
          <a:prstGeom prst="line">
            <a:avLst/>
          </a:prstGeom>
          <a:ln w="25400">
            <a:solidFill>
              <a:srgbClr val="5A6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35040" y="3657600"/>
            <a:ext cx="2514600" cy="320039"/>
          </a:xfrm>
          <a:prstGeom prst="line">
            <a:avLst/>
          </a:prstGeom>
          <a:ln w="25400">
            <a:solidFill>
              <a:srgbClr val="5A6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246120" y="5257800"/>
            <a:ext cx="3931920" cy="594360"/>
          </a:xfrm>
          <a:prstGeom prst="roundRect">
            <a:avLst/>
          </a:prstGeom>
          <a:solidFill>
            <a:srgbClr val="DEEBF9"/>
          </a:solidFill>
          <a:ln>
            <a:solidFill>
              <a:srgbClr val="4A6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22D3C"/>
                </a:solidFill>
                <a:latin typeface="Arial"/>
              </a:defRPr>
            </a:pPr>
            <a:r>
              <a:t>Display results / choose another operation / exit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91640" y="4800600"/>
            <a:ext cx="3520440" cy="457200"/>
          </a:xfrm>
          <a:prstGeom prst="line">
            <a:avLst/>
          </a:prstGeom>
          <a:ln w="25400">
            <a:solidFill>
              <a:srgbClr val="5A6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977639" y="4800600"/>
            <a:ext cx="1234441" cy="457200"/>
          </a:xfrm>
          <a:prstGeom prst="line">
            <a:avLst/>
          </a:prstGeom>
          <a:ln w="25400">
            <a:solidFill>
              <a:srgbClr val="5A6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212080" y="4800600"/>
            <a:ext cx="1051560" cy="457200"/>
          </a:xfrm>
          <a:prstGeom prst="line">
            <a:avLst/>
          </a:prstGeom>
          <a:ln w="25400">
            <a:solidFill>
              <a:srgbClr val="5A6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212080" y="4800600"/>
            <a:ext cx="3337560" cy="457200"/>
          </a:xfrm>
          <a:prstGeom prst="line">
            <a:avLst/>
          </a:prstGeom>
          <a:ln w="25400">
            <a:solidFill>
              <a:srgbClr val="5A6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739198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739430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88720" y="1508760"/>
            <a:ext cx="9829800" cy="48006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73152" tIns="73152" rIns="73152" bIns="73152">
            <a:normAutofit fontScale="92500" lnSpcReduction="10000"/>
          </a:bodyPr>
          <a:lstStyle/>
          <a:p>
            <a:pPr algn="l">
              <a:spcAft>
                <a:spcPts val="1000"/>
              </a:spcAft>
              <a:defRPr sz="1800" b="0">
                <a:solidFill>
                  <a:srgbClr val="28303A"/>
                </a:solidFill>
                <a:latin typeface="Arial"/>
              </a:defRPr>
            </a:pPr>
            <a:r>
              <a:rPr dirty="0"/>
              <a:t>The application provides the following implemented operations:</a:t>
            </a:r>
            <a:endParaRPr sz="3200" dirty="0"/>
          </a:p>
          <a:p>
            <a:pPr algn="l">
              <a:spcAft>
                <a:spcPts val="1000"/>
              </a:spcAft>
              <a:defRPr sz="1800" b="0">
                <a:solidFill>
                  <a:srgbClr val="28303A"/>
                </a:solidFill>
                <a:latin typeface="Arial"/>
              </a:defRPr>
            </a:pPr>
            <a:endParaRPr sz="3200" dirty="0"/>
          </a:p>
          <a:p>
            <a:pPr algn="l">
              <a:spcAft>
                <a:spcPts val="1000"/>
              </a:spcAft>
              <a:defRPr sz="1800" b="0">
                <a:solidFill>
                  <a:srgbClr val="28303A"/>
                </a:solidFill>
                <a:latin typeface="Arial"/>
              </a:defRPr>
            </a:pPr>
            <a:r>
              <a:rPr dirty="0"/>
              <a:t>1. KMP: searches the complete selected text for one pattern and reports the occurrence count and first matching positions.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8303A"/>
                </a:solidFill>
                <a:latin typeface="Arial"/>
              </a:defRPr>
            </a:pPr>
            <a:r>
              <a:rPr dirty="0"/>
              <a:t>2. Edit Distance: compares the input against unique words from the dataset and reports the closest match and distance.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8303A"/>
                </a:solidFill>
                <a:latin typeface="Arial"/>
              </a:defRPr>
            </a:pPr>
            <a:r>
              <a:rPr dirty="0"/>
              <a:t>3. Aho-</a:t>
            </a:r>
            <a:r>
              <a:rPr dirty="0" err="1"/>
              <a:t>Corasick</a:t>
            </a:r>
            <a:r>
              <a:rPr dirty="0"/>
              <a:t>: searches multiple keywords in the complete text and reports each keyword's count.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8303A"/>
                </a:solidFill>
                <a:latin typeface="Arial"/>
              </a:defRPr>
            </a:pPr>
            <a:r>
              <a:rPr dirty="0"/>
              <a:t>4. Suffix Array: sorts suffix indexes for up to the first 6,000 characters and displays the first 20 indexes.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8303A"/>
                </a:solidFill>
                <a:latin typeface="Arial"/>
              </a:defRPr>
            </a:pPr>
            <a:r>
              <a:rPr dirty="0"/>
              <a:t>5. LCP Array: calculates common-prefix lengths for adjacent sorted suffixes and displays the first 20 values.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28303A"/>
                </a:solidFill>
                <a:latin typeface="Arial"/>
              </a:defRPr>
            </a:pPr>
            <a:r>
              <a:rPr dirty="0"/>
              <a:t>The predefined dataset contains approximately 4.46 million characters and 25,000 newline-separated records. Actual output screenshots should be added from a program run. Execution-time comparison is not implemented in the current version.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873244" y="1197684"/>
            <a:ext cx="9372600" cy="521208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73152" tIns="73152" rIns="73152" bIns="73152">
            <a:normAutofit fontScale="77500" lnSpcReduction="20000"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28303A"/>
                </a:solidFill>
                <a:latin typeface="Arial"/>
              </a:defRPr>
            </a:pPr>
            <a:r>
              <a:rPr dirty="0"/>
              <a:t>Hardware Requirements</a:t>
            </a:r>
            <a:endParaRPr lang="en-US" altLang="en-US" sz="3200" dirty="0"/>
          </a:p>
          <a:p>
            <a:pPr algn="l">
              <a:spcAft>
                <a:spcPts val="1000"/>
              </a:spcAft>
              <a:defRPr sz="2000" b="0">
                <a:solidFill>
                  <a:srgbClr val="28303A"/>
                </a:solidFill>
                <a:latin typeface="Arial"/>
              </a:defRPr>
            </a:pPr>
            <a:r>
              <a:rPr dirty="0"/>
              <a:t>• Computer or laptop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28303A"/>
                </a:solidFill>
                <a:latin typeface="Arial"/>
              </a:defRPr>
            </a:pPr>
            <a:r>
              <a:rPr dirty="0"/>
              <a:t>• 4 GB RAM or more recommended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28303A"/>
                </a:solidFill>
                <a:latin typeface="Arial"/>
              </a:defRPr>
            </a:pPr>
            <a:r>
              <a:rPr dirty="0"/>
              <a:t>• Intel Core i3 or equivalent processor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28303A"/>
                </a:solidFill>
                <a:latin typeface="Arial"/>
              </a:defRPr>
            </a:pPr>
            <a:r>
              <a:rPr dirty="0"/>
              <a:t>• Sufficient storage for the dataset and JDK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28303A"/>
                </a:solidFill>
                <a:latin typeface="Arial"/>
              </a:defRPr>
            </a:pP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28303A"/>
                </a:solidFill>
                <a:latin typeface="Arial"/>
              </a:defRPr>
            </a:pPr>
            <a:r>
              <a:rPr dirty="0"/>
              <a:t>Software Requirements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28303A"/>
                </a:solidFill>
                <a:latin typeface="Arial"/>
              </a:defRPr>
            </a:pPr>
            <a:r>
              <a:rPr dirty="0"/>
              <a:t>• Java Development Kit (JDK)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28303A"/>
                </a:solidFill>
                <a:latin typeface="Arial"/>
              </a:defRPr>
            </a:pPr>
            <a:r>
              <a:rPr dirty="0"/>
              <a:t>• Java compiler (</a:t>
            </a:r>
            <a:r>
              <a:rPr dirty="0" err="1"/>
              <a:t>javac</a:t>
            </a:r>
            <a:r>
              <a:rPr dirty="0"/>
              <a:t>) and Java Virtual Machine (JVM)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28303A"/>
                </a:solidFill>
                <a:latin typeface="Arial"/>
              </a:defRPr>
            </a:pPr>
            <a:r>
              <a:rPr dirty="0"/>
              <a:t>• Windows, Linux, or macOS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28303A"/>
                </a:solidFill>
                <a:latin typeface="Arial"/>
              </a:defRPr>
            </a:pPr>
            <a:r>
              <a:rPr dirty="0"/>
              <a:t>• VS Code, IntelliJ IDEA, Eclipse, or another text editor/IDE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28303A"/>
                </a:solidFill>
                <a:latin typeface="Arial"/>
              </a:defRPr>
            </a:pPr>
            <a:r>
              <a:rPr dirty="0"/>
              <a:t>• Command Prompt or terminal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28303A"/>
                </a:solidFill>
                <a:latin typeface="Arial"/>
              </a:defRPr>
            </a:pPr>
            <a:r>
              <a:rPr dirty="0"/>
              <a:t>• Plain-text dataset (.txt)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28303A"/>
                </a:solidFill>
                <a:latin typeface="Arial"/>
              </a:defRPr>
            </a:pP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28303A"/>
                </a:solidFill>
                <a:latin typeface="Arial"/>
              </a:defRPr>
            </a:pPr>
            <a:r>
              <a:rPr dirty="0"/>
              <a:t>The submitted project is a Java console application. HTML, CSS, JavaScript, a web browser, and a database are not required for the current implementation.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5474" y="106241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32437" y="1062298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409700" y="2154218"/>
            <a:ext cx="9372600" cy="391927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73152" tIns="73152" rIns="73152" bIns="73152">
            <a:normAutofit/>
          </a:bodyPr>
          <a:lstStyle/>
          <a:p>
            <a:pPr algn="l">
              <a:spcAft>
                <a:spcPts val="1000"/>
              </a:spcAft>
              <a:defRPr sz="2100" b="0">
                <a:solidFill>
                  <a:srgbClr val="28303A"/>
                </a:solidFill>
                <a:latin typeface="Arial"/>
              </a:defRPr>
            </a:pPr>
            <a:r>
              <a:rPr dirty="0"/>
              <a:t>The project demonstrates the practical use of five string-processing algorithms in a single Java application. It supports predefined and user-provided text files and provides single-pattern searching, closest-word matching, multiple-keyword searching, suffix indexing, and common-prefix analysis. The project also demonstrates how Java file handling and collections can be combined with algorithmic techniques. The current implementation provides a foundation for future improvements such as performance measurement, advanced indexing, and a graphical interface.</a:t>
            </a:r>
            <a:endParaRPr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5474" y="956368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729922" y="888829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605579" y="1840455"/>
            <a:ext cx="9372600" cy="448056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73152" tIns="73152" rIns="73152" bIns="73152">
            <a:normAutofit/>
          </a:bodyPr>
          <a:lstStyle/>
          <a:p>
            <a:pPr algn="l">
              <a:spcAft>
                <a:spcPts val="1000"/>
              </a:spcAft>
              <a:defRPr sz="2100" b="0">
                <a:solidFill>
                  <a:srgbClr val="28303A"/>
                </a:solidFill>
                <a:latin typeface="Arial"/>
              </a:defRPr>
            </a:pPr>
            <a:r>
              <a:rPr dirty="0"/>
              <a:t>Future improvements may include:</a:t>
            </a:r>
            <a:endParaRPr sz="3200" dirty="0"/>
          </a:p>
          <a:p>
            <a:pPr algn="l">
              <a:spcAft>
                <a:spcPts val="1000"/>
              </a:spcAft>
              <a:defRPr sz="2100" b="0">
                <a:solidFill>
                  <a:srgbClr val="28303A"/>
                </a:solidFill>
                <a:latin typeface="Arial"/>
              </a:defRPr>
            </a:pPr>
            <a:r>
              <a:rPr dirty="0"/>
              <a:t>• Measuring and comparing algorithm execution times.</a:t>
            </a:r>
          </a:p>
          <a:p>
            <a:pPr algn="l">
              <a:spcAft>
                <a:spcPts val="1000"/>
              </a:spcAft>
              <a:defRPr sz="2100" b="0">
                <a:solidFill>
                  <a:srgbClr val="28303A"/>
                </a:solidFill>
                <a:latin typeface="Arial"/>
              </a:defRPr>
            </a:pPr>
            <a:r>
              <a:rPr dirty="0"/>
              <a:t>• Adding Rabin-Karp and the Z Algorithm as additional pattern-matching options.</a:t>
            </a:r>
          </a:p>
          <a:p>
            <a:pPr algn="l">
              <a:spcAft>
                <a:spcPts val="1000"/>
              </a:spcAft>
              <a:defRPr sz="2100" b="0">
                <a:solidFill>
                  <a:srgbClr val="28303A"/>
                </a:solidFill>
                <a:latin typeface="Arial"/>
              </a:defRPr>
            </a:pPr>
            <a:r>
              <a:rPr dirty="0"/>
              <a:t>• Using a more efficient Suffix Array construction algorithm for larger text.</a:t>
            </a:r>
          </a:p>
          <a:p>
            <a:pPr algn="l">
              <a:spcAft>
                <a:spcPts val="1000"/>
              </a:spcAft>
              <a:defRPr sz="2100" b="0">
                <a:solidFill>
                  <a:srgbClr val="28303A"/>
                </a:solidFill>
                <a:latin typeface="Arial"/>
              </a:defRPr>
            </a:pPr>
            <a:r>
              <a:rPr dirty="0"/>
              <a:t>• Adding a graphical or web-based user interface.</a:t>
            </a:r>
          </a:p>
          <a:p>
            <a:pPr algn="l">
              <a:spcAft>
                <a:spcPts val="1000"/>
              </a:spcAft>
              <a:defRPr sz="2100" b="0">
                <a:solidFill>
                  <a:srgbClr val="28303A"/>
                </a:solidFill>
                <a:latin typeface="Arial"/>
              </a:defRPr>
            </a:pPr>
            <a:r>
              <a:rPr dirty="0"/>
              <a:t>• Supporting UTF-8 text and additional document formats.</a:t>
            </a:r>
          </a:p>
          <a:p>
            <a:pPr algn="l">
              <a:spcAft>
                <a:spcPts val="1000"/>
              </a:spcAft>
              <a:defRPr sz="2100" b="0">
                <a:solidFill>
                  <a:srgbClr val="28303A"/>
                </a:solidFill>
                <a:latin typeface="Arial"/>
              </a:defRPr>
            </a:pPr>
            <a:r>
              <a:rPr dirty="0"/>
              <a:t>• Adding highlighted matches, search history, and relevance ranking.</a:t>
            </a:r>
          </a:p>
          <a:p>
            <a:pPr algn="l">
              <a:spcAft>
                <a:spcPts val="1000"/>
              </a:spcAft>
              <a:defRPr sz="2100" b="0">
                <a:solidFill>
                  <a:srgbClr val="28303A"/>
                </a:solidFill>
                <a:latin typeface="Arial"/>
              </a:defRPr>
            </a:pPr>
            <a:r>
              <a:rPr dirty="0"/>
              <a:t>• Extending the system to search across multiple documents.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1010</Words>
  <Application>Microsoft Office PowerPoint</Application>
  <PresentationFormat>Widescreen</PresentationFormat>
  <Paragraphs>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       Data Structures and Algorithms -3 (25CS2103E)  Text Search and Intelligent Query Engine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Hamsika Peddina</cp:lastModifiedBy>
  <cp:revision>22</cp:revision>
  <dcterms:created xsi:type="dcterms:W3CDTF">2024-08-29T05:25:00Z</dcterms:created>
  <dcterms:modified xsi:type="dcterms:W3CDTF">2026-10-12T05:28:56Z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24DE258D7BDF438C83951788BD7E8720_13</vt:lpwstr>
  </property>
  <property fmtid="{D5CDD505-2E9C-101B-9397-08002B2CF9AE}" pid="3" name="KSOProductBuildVer">
    <vt:lpwstr>1033-12.1.0.28032</vt:lpwstr>
  </property>
</Properties>
</file>